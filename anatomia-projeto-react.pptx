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JetBrains Mono" panose="02000009000000000000" pitchFamily="49"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da aula: não é decorar React, é enxergar o caminho que um clique percorre. Ao final, cada aluno deve conseguir apontar, para qualquer ação da tela, qual arquivo é chamado e por qual mecanismo (import, rota, props, estado ou fetch).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o slide de referência; voltem a ele sempre que se perderem. Cada seta é um import no código: main.jsx importa App, App importa Menu e as páginas, as páginas importam produtoService. A seta nunca volta: o serviço não sabe nada de React, e é por isso que ele poderia ser reaproveitado em outro projeto. Modal.jsx fica na pasta components, mas na prática é usado pelas páginas, por isso está na mesma camada.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o index.html real no editor: é surpreendente para os alunos que ele não tenha nenhum conteúdo visível. O plugin react() do vite.config.js é o que permite escrever JSX dentro de arquivos .jsx. Ponto de conexão: o id "root" daqui é o mesmo que main.jsx procura com getElementById no próximo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Experimento para a turma: tirar o BrowserRouter e rodar. O erro diz que useNavigate só pode ser usado dentro de um Router. Isso mostra que o BrowserRouter é um "provedor": ele não desenha nada, só disponibiliza a URL para todos os componentes abaixo dele. StrictMode só existe em desenvolvimento e executa os efeitos duas vezes para revelar bugs; por isso o GET da lista pode aparecer duplicado na aba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Routes funciona como um switch: compara a URL atual com cada path e renderiza só o element do primeiro que casar. Tudo que estiver fora de Routes (o Menu) é renderizado sempre. Pergunta para a turma: o que aparece em /usuarios? Resposta: só o menu, porque nenhuma rota casa. Note que "/" casa exatamente apenas com "/"; dentro de Routes o React Router v6 faz casamento exato por padrão.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Conexão com App.jsx: os valores de "to" precisam bater com os paths das rotas. Conexão com index.css: a string devolvida por classeLink vira className, e a regra .menu-item-ativo pinta a borda inferior azul. Detalhe importante: /produtos sem "end" também fica ativo em /produtos/novo e /produtos/editar/7. Foi por isso que as páginas de formulário ficaram sob o prefixo /produtos: o item "Produtos" continua destacado enquanto o aluno está criando ou editando.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as funções seguem o mesmo molde: fetch, verificar o status, lançar erro se falhar. Ponto de conexão: o serviço LANÇA o erro, mas não decide o que mostrar; quem captura é o try/catch de cada página, que coloca a mensagem no estado "erro". Por que o POST compara com 201 e não com resposta.ok? Porque o enunciado pede 201 Created; um 200 indicaria que o backend não está seguindo a convenção REST. A constante API_URL fica num lugar só: trocar de servidor é mudar uma linha.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o ciclo fundamental do React e se repete em todas as páginas: algo dispara (efeito ou clique), chamamos o serviço, guardamos o resultado no estado com um set, e o React redesenha. Nunca alteramos a tela diretamente. Além de produtos, a página tem os estados carregando e erro: enquanto carregando é true aparece "Carregando..."; se o serviço lançar erro, o catch preenche erro e a div vermelha aparece.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Ideia central: o modal não é "aberto" por um comando; ele existe ou não existe dependendo de um estado. produtoParaApagar guarda o produto inteiro, e não só o id, porque a mensagem precisa também do nome. O botão lápis, na outra coluna, é ainda mais simples: navigate('/produtos/editar/' + produto.id). Ele não carrega nada; só muda a URL, e quem busca os dados é a página EditarProduto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Props são os "parâmetros" de um componente. children é uma prop especial: é tudo o que se escreve entre a tag de abertura e a de fechamento, ou seja, entre &lt;Modal&gt; e &lt;/Modal&gt;. Comparação útil para quem vem de Java: o Modal é como um método que recebe um texto e um callback; a lógica fica com quem chama. Conexão com o CSS: modal-fundo é position fixed com inset 0, o que cobre a tela inteira e escurece a lista atrás.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"Controlado" significa que o valor exibido no input vem do estado, e não do DOM. O form usa onSubmit={salvar}, e salvar começa com evento.preventDefault() para o navegador não recarregar a página — reação padrão de um form HTML. O estado salvando desabilita o botão durante a requisição, evitando POST duplicado por clique duplo. Conexão com o próximo slide: EditarProduto tem exatamente esta mesma estrutura.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tabela para mostrar que quase tudo é igual: reconhecer padrões é mais importante do que decorar cada arquivo. O useEffect de EditarProduto depende de [id]: se a URL mudar para outro id, os dados são buscados de novo. Campos readOnly continuam visíveis, mas não entram no corpo do PUT; o objeto enviado tem só nome, descricao e preco, e o id vai na URL. Se o backend esperar o id também no corpo, basta acrescentá-lo ao objeto.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o ponto de conexão menos óbvio do projeto, e vale gastar tempo nele. Duas páginas que não se importam mutuamente trocam informação através do React Router: navigate grava um objeto no histórico, e useLocation o lê do outro lado. Sem o navigate com replace, o state ficaria gravado na entrada do histórico e o modal reapareceria a cada atualização da página. Para o DELETE não é preciso nada disso, porque a exclusão acontece na própria 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sugerida: abrir o DevTools na aba Network, criar um produto e pedir aos alunos que associem cada requisição a uma linha desta tabela. Devem aparecer o POST (linha 2, status 201) e, logo depois, o GET da lista (linha 6). Repetir o exercício para editar (GET por id, PUT, GET da lista) e para apagar (DELETE, GET da 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JSX se escreve className porque class é palavra reservada em JavaScript. O tooltip não usa nenhuma biblioteca: o botão tem o atributo data-tooltip="Apagar produto", e o CSS lê esse texto com content: attr(data-tooltip) no pseudo-elemento ::after. É um bom exemplo de como um atributo HTML conecta o JSX ao CSS sem JavaScript algum.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Exercício para entregar: implementar Usuários seguindo os quatro passos, na mesma ordem das camadas do slide 1. Critério de correção: nenhuma página pode chamar fetch diretamente, e o NavLink "Usuários" deve ficar ativo também em /usuarios/novo e /usuarios/editar/:id. Pedidos pode ficar como desafio, porque envolve relacionar um pedido a um usuário e a produtos.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8212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0"/>
            <a:ext cx="10566400" cy="4170680"/>
          </a:xfrm>
          <a:prstGeom prst="rect">
            <a:avLst/>
          </a:prstGeom>
          <a:noFill/>
          <a:ln/>
        </p:spPr>
        <p:txBody>
          <a:bodyPr wrap="square" lIns="0" tIns="0" rIns="0" bIns="0" rtlCol="0" anchor="t"/>
          <a:lstStyle>
            <a:lvl1pPr algn="l" indent="0" marL="0">
              <a:lnSpc>
                <a:spcPct val="140000"/>
              </a:lnSpc>
              <a:buNone/>
              <a:defRPr lang="en-US" sz="1600" dirty="0">
                <a:solidFill>
                  <a:srgbClr val="18212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8212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0"/>
            <a:ext cx="10566400" cy="4170680"/>
          </a:xfrm>
          <a:prstGeom prst="rect">
            <a:avLst/>
          </a:prstGeom>
          <a:noFill/>
          <a:ln/>
        </p:spPr>
        <p:txBody>
          <a:bodyPr wrap="square" lIns="0" tIns="0" rIns="0" bIns="0" rtlCol="0" anchor="t"/>
          <a:lstStyle>
            <a:lvl1pPr algn="l" indent="0" marL="0">
              <a:lnSpc>
                <a:spcPct val="140000"/>
              </a:lnSpc>
              <a:buNone/>
              <a:defRPr lang="en-US" sz="1600" dirty="0">
                <a:solidFill>
                  <a:srgbClr val="18212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26"/>
        </a:solidFill>
      </p:bgPr>
    </p:bg>
    <p:spTree>
      <p:nvGrpSpPr>
        <p:cNvPr id="1" name=""/>
        <p:cNvGrpSpPr/>
        <p:nvPr/>
      </p:nvGrpSpPr>
      <p:grpSpPr>
        <a:xfrm>
          <a:off x="0" y="0"/>
          <a:ext cx="0" cy="0"/>
          <a:chOff x="0" y="0"/>
          <a:chExt cx="0" cy="0"/>
        </a:xfrm>
      </p:grpSpPr>
      <p:sp>
        <p:nvSpPr>
          <p:cNvPr id="2" name="Text 0"/>
          <p:cNvSpPr/>
          <p:nvPr/>
        </p:nvSpPr>
        <p:spPr>
          <a:xfrm>
            <a:off x="8712200" y="812800"/>
            <a:ext cx="2747010" cy="17322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E6B7A"/>
                </a:solidFill>
                <a:latin typeface="JetBrains Mono" pitchFamily="49" charset="0"/>
                <a:ea typeface="JetBrains Mono" pitchFamily="49" charset="-122"/>
                <a:cs typeface="JetBrains Mono" pitchFamily="49" charset="-120"/>
              </a:rPr>
              <a:t>src/</a:t>
            </a:r>
            <a:endParaRPr lang="en-US" sz="1400" dirty="0"/>
          </a:p>
          <a:p>
            <a:pPr algn="l" indent="0" marL="0">
              <a:lnSpc>
                <a:spcPts val="2240"/>
              </a:lnSpc>
              <a:buNone/>
            </a:pPr>
            <a:r>
              <a:rPr lang="en-US" sz="1400" dirty="0">
                <a:solidFill>
                  <a:srgbClr val="5E6B7A"/>
                </a:solidFill>
                <a:latin typeface="JetBrains Mono" pitchFamily="49" charset="0"/>
                <a:ea typeface="JetBrains Mono" pitchFamily="49" charset="-122"/>
                <a:cs typeface="JetBrains Mono" pitchFamily="49" charset="-120"/>
              </a:rPr>
              <a:t>├─ main.jsx</a:t>
            </a:r>
            <a:endParaRPr lang="en-US" sz="1400" dirty="0"/>
          </a:p>
          <a:p>
            <a:pPr algn="l" indent="0" marL="0">
              <a:lnSpc>
                <a:spcPts val="2240"/>
              </a:lnSpc>
              <a:buNone/>
            </a:pPr>
            <a:r>
              <a:rPr lang="en-US" sz="1400" dirty="0">
                <a:solidFill>
                  <a:srgbClr val="5E6B7A"/>
                </a:solidFill>
                <a:latin typeface="JetBrains Mono" pitchFamily="49" charset="0"/>
                <a:ea typeface="JetBrains Mono" pitchFamily="49" charset="-122"/>
                <a:cs typeface="JetBrains Mono" pitchFamily="49" charset="-120"/>
              </a:rPr>
              <a:t>├─ App.jsx</a:t>
            </a:r>
            <a:endParaRPr lang="en-US" sz="1400" dirty="0"/>
          </a:p>
          <a:p>
            <a:pPr algn="l" indent="0" marL="0">
              <a:lnSpc>
                <a:spcPts val="2240"/>
              </a:lnSpc>
              <a:buNone/>
            </a:pPr>
            <a:r>
              <a:rPr lang="en-US" sz="1400" dirty="0">
                <a:solidFill>
                  <a:srgbClr val="5E6B7A"/>
                </a:solidFill>
                <a:latin typeface="JetBrains Mono" pitchFamily="49" charset="0"/>
                <a:ea typeface="JetBrains Mono" pitchFamily="49" charset="-122"/>
                <a:cs typeface="JetBrains Mono" pitchFamily="49" charset="-120"/>
              </a:rPr>
              <a:t>├─ components/</a:t>
            </a:r>
            <a:endParaRPr lang="en-US" sz="1400" dirty="0"/>
          </a:p>
          <a:p>
            <a:pPr algn="l" indent="0" marL="0">
              <a:lnSpc>
                <a:spcPts val="2240"/>
              </a:lnSpc>
              <a:buNone/>
            </a:pPr>
            <a:r>
              <a:rPr lang="en-US" sz="1400" dirty="0">
                <a:solidFill>
                  <a:srgbClr val="5E6B7A"/>
                </a:solidFill>
                <a:latin typeface="JetBrains Mono" pitchFamily="49" charset="0"/>
                <a:ea typeface="JetBrains Mono" pitchFamily="49" charset="-122"/>
                <a:cs typeface="JetBrains Mono" pitchFamily="49" charset="-120"/>
              </a:rPr>
              <a:t>├─ pages/</a:t>
            </a:r>
            <a:endParaRPr lang="en-US" sz="1400" dirty="0"/>
          </a:p>
          <a:p>
            <a:pPr algn="l" indent="0" marL="0">
              <a:lnSpc>
                <a:spcPts val="2240"/>
              </a:lnSpc>
              <a:buNone/>
            </a:pPr>
            <a:r>
              <a:rPr lang="en-US" sz="1400" dirty="0">
                <a:solidFill>
                  <a:srgbClr val="5E6B7A"/>
                </a:solidFill>
                <a:latin typeface="JetBrains Mono" pitchFamily="49" charset="0"/>
                <a:ea typeface="JetBrains Mono" pitchFamily="49" charset="-122"/>
                <a:cs typeface="JetBrains Mono" pitchFamily="49" charset="-120"/>
              </a:rPr>
              <a:t>└─ services/</a:t>
            </a:r>
            <a:endParaRPr lang="en-US" sz="1400" dirty="0"/>
          </a:p>
        </p:txBody>
      </p:sp>
      <p:sp>
        <p:nvSpPr>
          <p:cNvPr id="3" name="Text 1"/>
          <p:cNvSpPr/>
          <p:nvPr/>
        </p:nvSpPr>
        <p:spPr>
          <a:xfrm>
            <a:off x="812800" y="336296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A65A"/>
                </a:solidFill>
                <a:latin typeface="IBM Plex Sans" pitchFamily="34" charset="0"/>
                <a:ea typeface="IBM Plex Sans" pitchFamily="34" charset="-122"/>
                <a:cs typeface="IBM Plex Sans" pitchFamily="34" charset="-120"/>
              </a:rPr>
              <a:t>LIP1 · REACT + VITE + REACT ROUTER</a:t>
            </a:r>
            <a:endParaRPr lang="en-US" sz="1400" dirty="0"/>
          </a:p>
        </p:txBody>
      </p:sp>
      <p:sp>
        <p:nvSpPr>
          <p:cNvPr id="4" name="Text 2"/>
          <p:cNvSpPr/>
          <p:nvPr>
            <p:ph type="title"/>
          </p:nvPr>
        </p:nvSpPr>
        <p:spPr>
          <a:xfrm>
            <a:off x="812800" y="3815080"/>
            <a:ext cx="10883392" cy="141224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3F1EA"/>
                </a:solidFill>
                <a:latin typeface="IBM Plex Sans" pitchFamily="34" charset="0"/>
                <a:ea typeface="IBM Plex Sans" pitchFamily="34" charset="-122"/>
                <a:cs typeface="IBM Plex Sans" pitchFamily="34" charset="-120"/>
              </a:rPr>
              <a:t>Anatomia do</a:t>
            </a:r>
            <a:endParaRPr lang="en-US" sz="5200" dirty="0"/>
          </a:p>
          <a:p>
            <a:pPr algn="l" indent="0" marL="0">
              <a:lnSpc>
                <a:spcPts val="5460"/>
              </a:lnSpc>
              <a:buNone/>
            </a:pPr>
            <a:r>
              <a:rPr lang="en-US" sz="5200" b="1" i="0" dirty="0">
                <a:solidFill>
                  <a:srgbClr val="F3F1EA"/>
                </a:solidFill>
                <a:latin typeface="IBM Plex Sans" pitchFamily="34" charset="0"/>
                <a:ea typeface="IBM Plex Sans" pitchFamily="34" charset="-122"/>
                <a:cs typeface="IBM Plex Sans" pitchFamily="34" charset="-120"/>
              </a:rPr>
              <a:t>produtos-cliente</a:t>
            </a:r>
            <a:endParaRPr lang="en-US" sz="5200" dirty="0"/>
          </a:p>
        </p:txBody>
      </p:sp>
      <p:sp>
        <p:nvSpPr>
          <p:cNvPr id="5" name="Text 3"/>
          <p:cNvSpPr/>
          <p:nvPr/>
        </p:nvSpPr>
        <p:spPr>
          <a:xfrm>
            <a:off x="812800" y="5405120"/>
            <a:ext cx="850265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9C4CF"/>
                </a:solidFill>
                <a:latin typeface="IBM Plex Sans" pitchFamily="34" charset="0"/>
                <a:ea typeface="IBM Plex Sans" pitchFamily="34" charset="-122"/>
                <a:cs typeface="IBM Plex Sans" pitchFamily="34" charset="-120"/>
              </a:rPr>
              <a:t>Como cada arquivo do projeto se conecta — do index.html até a API REST em localhost:8080.</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01 · MAPA DO PROJETO</a:t>
            </a:r>
            <a:endParaRPr lang="en-US" sz="1200" dirty="0"/>
          </a:p>
        </p:txBody>
      </p:sp>
      <p:sp>
        <p:nvSpPr>
          <p:cNvPr id="3" name="Text 1"/>
          <p:cNvSpPr/>
          <p:nvPr>
            <p:ph type="title"/>
          </p:nvPr>
        </p:nvSpPr>
        <p:spPr>
          <a:xfrm>
            <a:off x="812800" y="110236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Quatro camadas, ligadas por imports</a:t>
            </a:r>
            <a:endParaRPr lang="en-US" sz="3200" dirty="0"/>
          </a:p>
        </p:txBody>
      </p:sp>
      <p:sp>
        <p:nvSpPr>
          <p:cNvPr id="4" name="Shape 2"/>
          <p:cNvSpPr/>
          <p:nvPr/>
        </p:nvSpPr>
        <p:spPr>
          <a:xfrm>
            <a:off x="815975" y="1877695"/>
            <a:ext cx="2254250" cy="2401993"/>
          </a:xfrm>
          <a:prstGeom prst="roundRect">
            <a:avLst>
              <a:gd name="adj" fmla="val 4366"/>
            </a:avLst>
          </a:prstGeom>
          <a:solidFill>
            <a:srgbClr val="FDFCF9"/>
          </a:solidFill>
          <a:ln w="6350">
            <a:solidFill>
              <a:srgbClr val="DDDAD0"/>
            </a:solidFill>
            <a:prstDash val="solid"/>
          </a:ln>
        </p:spPr>
      </p:sp>
      <p:sp>
        <p:nvSpPr>
          <p:cNvPr id="5" name="Text 3"/>
          <p:cNvSpPr/>
          <p:nvPr/>
        </p:nvSpPr>
        <p:spPr>
          <a:xfrm>
            <a:off x="995892" y="2057612"/>
            <a:ext cx="19512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IBM Plex Sans" pitchFamily="34" charset="0"/>
                <a:ea typeface="IBM Plex Sans" pitchFamily="34" charset="-122"/>
                <a:cs typeface="IBM Plex Sans" pitchFamily="34" charset="-120"/>
              </a:rPr>
              <a:t>Inicialização</a:t>
            </a:r>
            <a:endParaRPr lang="en-US" sz="1600" dirty="0"/>
          </a:p>
        </p:txBody>
      </p:sp>
      <p:sp>
        <p:nvSpPr>
          <p:cNvPr id="6" name="Text 4"/>
          <p:cNvSpPr/>
          <p:nvPr/>
        </p:nvSpPr>
        <p:spPr>
          <a:xfrm>
            <a:off x="995892" y="2377652"/>
            <a:ext cx="20711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Liga o React à página HTML</a:t>
            </a:r>
            <a:endParaRPr lang="en-US" sz="1200" dirty="0"/>
          </a:p>
        </p:txBody>
      </p:sp>
      <p:sp>
        <p:nvSpPr>
          <p:cNvPr id="7" name="Text 5"/>
          <p:cNvSpPr/>
          <p:nvPr/>
        </p:nvSpPr>
        <p:spPr>
          <a:xfrm>
            <a:off x="995892" y="2667212"/>
            <a:ext cx="1951249" cy="75692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2E6BD6"/>
                </a:solidFill>
                <a:latin typeface="JetBrains Mono" pitchFamily="49" charset="0"/>
                <a:ea typeface="JetBrains Mono" pitchFamily="49" charset="-122"/>
                <a:cs typeface="JetBrains Mono" pitchFamily="49" charset="-120"/>
              </a:rPr>
              <a:t>index.html</a:t>
            </a:r>
            <a:endParaRPr lang="en-US" sz="1200" dirty="0"/>
          </a:p>
          <a:p>
            <a:pPr algn="l" indent="0" marL="0">
              <a:lnSpc>
                <a:spcPts val="1920"/>
              </a:lnSpc>
              <a:buNone/>
            </a:pPr>
            <a:r>
              <a:rPr lang="en-US" sz="1200" dirty="0">
                <a:solidFill>
                  <a:srgbClr val="2E6BD6"/>
                </a:solidFill>
                <a:latin typeface="JetBrains Mono" pitchFamily="49" charset="0"/>
                <a:ea typeface="JetBrains Mono" pitchFamily="49" charset="-122"/>
                <a:cs typeface="JetBrains Mono" pitchFamily="49" charset="-120"/>
              </a:rPr>
              <a:t>main.jsx</a:t>
            </a:r>
            <a:endParaRPr lang="en-US" sz="1200" dirty="0"/>
          </a:p>
          <a:p>
            <a:pPr algn="l" indent="0" marL="0">
              <a:lnSpc>
                <a:spcPts val="1920"/>
              </a:lnSpc>
              <a:buNone/>
            </a:pPr>
            <a:r>
              <a:rPr lang="en-US" sz="1200" dirty="0">
                <a:solidFill>
                  <a:srgbClr val="2E6BD6"/>
                </a:solidFill>
                <a:latin typeface="JetBrains Mono" pitchFamily="49" charset="0"/>
                <a:ea typeface="JetBrains Mono" pitchFamily="49" charset="-122"/>
                <a:cs typeface="JetBrains Mono" pitchFamily="49" charset="-120"/>
              </a:rPr>
              <a:t>index.css</a:t>
            </a:r>
            <a:endParaRPr lang="en-US" sz="1200" dirty="0"/>
          </a:p>
        </p:txBody>
      </p:sp>
      <p:pic>
        <p:nvPicPr>
          <p:cNvPr id="8" name="Image 0" descr="arrow-right">    </p:cNvPr>
          <p:cNvPicPr>
            <a:picLocks noChangeAspect="1"/>
          </p:cNvPicPr>
          <p:nvPr/>
        </p:nvPicPr>
        <p:blipFill>
          <a:blip r:embed="rId1"/>
          <a:srcRect l="0" r="0" t="0" b="0"/>
          <a:stretch/>
        </p:blipFill>
        <p:spPr>
          <a:xfrm>
            <a:off x="3175000" y="3002492"/>
            <a:ext cx="304800" cy="152400"/>
          </a:xfrm>
          <a:prstGeom prst="rect">
            <a:avLst/>
          </a:prstGeom>
        </p:spPr>
      </p:pic>
      <p:sp>
        <p:nvSpPr>
          <p:cNvPr id="9" name="Shape 6"/>
          <p:cNvSpPr/>
          <p:nvPr/>
        </p:nvSpPr>
        <p:spPr>
          <a:xfrm>
            <a:off x="3584575" y="1877695"/>
            <a:ext cx="2254250" cy="2401993"/>
          </a:xfrm>
          <a:prstGeom prst="roundRect">
            <a:avLst>
              <a:gd name="adj" fmla="val 4366"/>
            </a:avLst>
          </a:prstGeom>
          <a:solidFill>
            <a:srgbClr val="FDFCF9"/>
          </a:solidFill>
          <a:ln w="6350">
            <a:solidFill>
              <a:srgbClr val="DDDAD0"/>
            </a:solidFill>
            <a:prstDash val="solid"/>
          </a:ln>
        </p:spPr>
      </p:sp>
      <p:sp>
        <p:nvSpPr>
          <p:cNvPr id="10" name="Text 7"/>
          <p:cNvSpPr/>
          <p:nvPr/>
        </p:nvSpPr>
        <p:spPr>
          <a:xfrm>
            <a:off x="3764492" y="2057612"/>
            <a:ext cx="19512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IBM Plex Sans" pitchFamily="34" charset="0"/>
                <a:ea typeface="IBM Plex Sans" pitchFamily="34" charset="-122"/>
                <a:cs typeface="IBM Plex Sans" pitchFamily="34" charset="-120"/>
              </a:rPr>
              <a:t>Roteamento</a:t>
            </a:r>
            <a:endParaRPr lang="en-US" sz="1600" dirty="0"/>
          </a:p>
        </p:txBody>
      </p:sp>
      <p:sp>
        <p:nvSpPr>
          <p:cNvPr id="11" name="Text 8"/>
          <p:cNvSpPr/>
          <p:nvPr/>
        </p:nvSpPr>
        <p:spPr>
          <a:xfrm>
            <a:off x="3764492" y="2377652"/>
            <a:ext cx="19512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Decide qual página aparece para cada URL</a:t>
            </a:r>
            <a:endParaRPr lang="en-US" sz="1200" dirty="0"/>
          </a:p>
        </p:txBody>
      </p:sp>
      <p:sp>
        <p:nvSpPr>
          <p:cNvPr id="12" name="Text 9"/>
          <p:cNvSpPr/>
          <p:nvPr/>
        </p:nvSpPr>
        <p:spPr>
          <a:xfrm>
            <a:off x="3764492" y="2880571"/>
            <a:ext cx="1951249" cy="5130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2E6BD6"/>
                </a:solidFill>
                <a:latin typeface="JetBrains Mono" pitchFamily="49" charset="0"/>
                <a:ea typeface="JetBrains Mono" pitchFamily="49" charset="-122"/>
                <a:cs typeface="JetBrains Mono" pitchFamily="49" charset="-120"/>
              </a:rPr>
              <a:t>App.jsx</a:t>
            </a:r>
            <a:endParaRPr lang="en-US" sz="1200" dirty="0"/>
          </a:p>
          <a:p>
            <a:pPr algn="l" indent="0" marL="0">
              <a:lnSpc>
                <a:spcPts val="1920"/>
              </a:lnSpc>
              <a:buNone/>
            </a:pPr>
            <a:r>
              <a:rPr lang="en-US" sz="1200" dirty="0">
                <a:solidFill>
                  <a:srgbClr val="2E6BD6"/>
                </a:solidFill>
                <a:latin typeface="JetBrains Mono" pitchFamily="49" charset="0"/>
                <a:ea typeface="JetBrains Mono" pitchFamily="49" charset="-122"/>
                <a:cs typeface="JetBrains Mono" pitchFamily="49" charset="-120"/>
              </a:rPr>
              <a:t>Menu.jsx</a:t>
            </a:r>
            <a:endParaRPr lang="en-US" sz="1200" dirty="0"/>
          </a:p>
        </p:txBody>
      </p:sp>
      <p:pic>
        <p:nvPicPr>
          <p:cNvPr id="13" name="Image 1" descr="arrow-right">    </p:cNvPr>
          <p:cNvPicPr>
            <a:picLocks noChangeAspect="1"/>
          </p:cNvPicPr>
          <p:nvPr/>
        </p:nvPicPr>
        <p:blipFill>
          <a:blip r:embed="rId2"/>
          <a:srcRect l="0" r="0" t="0" b="0"/>
          <a:stretch/>
        </p:blipFill>
        <p:spPr>
          <a:xfrm>
            <a:off x="5943600" y="3002492"/>
            <a:ext cx="304800" cy="152400"/>
          </a:xfrm>
          <a:prstGeom prst="rect">
            <a:avLst/>
          </a:prstGeom>
        </p:spPr>
      </p:pic>
      <p:sp>
        <p:nvSpPr>
          <p:cNvPr id="14" name="Shape 10"/>
          <p:cNvSpPr/>
          <p:nvPr/>
        </p:nvSpPr>
        <p:spPr>
          <a:xfrm>
            <a:off x="6353175" y="1877695"/>
            <a:ext cx="2254250" cy="2401993"/>
          </a:xfrm>
          <a:prstGeom prst="roundRect">
            <a:avLst>
              <a:gd name="adj" fmla="val 4366"/>
            </a:avLst>
          </a:prstGeom>
          <a:solidFill>
            <a:srgbClr val="FDFCF9"/>
          </a:solidFill>
          <a:ln w="6350">
            <a:solidFill>
              <a:srgbClr val="DDDAD0"/>
            </a:solidFill>
            <a:prstDash val="solid"/>
          </a:ln>
        </p:spPr>
      </p:sp>
      <p:sp>
        <p:nvSpPr>
          <p:cNvPr id="15" name="Text 11"/>
          <p:cNvSpPr/>
          <p:nvPr/>
        </p:nvSpPr>
        <p:spPr>
          <a:xfrm>
            <a:off x="6533092" y="2057612"/>
            <a:ext cx="19512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IBM Plex Sans" pitchFamily="34" charset="0"/>
                <a:ea typeface="IBM Plex Sans" pitchFamily="34" charset="-122"/>
                <a:cs typeface="IBM Plex Sans" pitchFamily="34" charset="-120"/>
              </a:rPr>
              <a:t>Páginas</a:t>
            </a:r>
            <a:endParaRPr lang="en-US" sz="1600" dirty="0"/>
          </a:p>
        </p:txBody>
      </p:sp>
      <p:sp>
        <p:nvSpPr>
          <p:cNvPr id="16" name="Text 12"/>
          <p:cNvSpPr/>
          <p:nvPr/>
        </p:nvSpPr>
        <p:spPr>
          <a:xfrm>
            <a:off x="6533092" y="2377652"/>
            <a:ext cx="19512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Guardam estado e desenham a tela</a:t>
            </a:r>
            <a:endParaRPr lang="en-US" sz="1200" dirty="0"/>
          </a:p>
        </p:txBody>
      </p:sp>
      <p:sp>
        <p:nvSpPr>
          <p:cNvPr id="17" name="Text 13"/>
          <p:cNvSpPr/>
          <p:nvPr/>
        </p:nvSpPr>
        <p:spPr>
          <a:xfrm>
            <a:off x="6533092" y="2880571"/>
            <a:ext cx="1951249" cy="124460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2E6BD6"/>
                </a:solidFill>
                <a:latin typeface="JetBrains Mono" pitchFamily="49" charset="0"/>
                <a:ea typeface="JetBrains Mono" pitchFamily="49" charset="-122"/>
                <a:cs typeface="JetBrains Mono" pitchFamily="49" charset="-120"/>
              </a:rPr>
              <a:t>Principal.jsx</a:t>
            </a:r>
            <a:endParaRPr lang="en-US" sz="1200" dirty="0"/>
          </a:p>
          <a:p>
            <a:pPr algn="l" indent="0" marL="0">
              <a:lnSpc>
                <a:spcPts val="1920"/>
              </a:lnSpc>
              <a:buNone/>
            </a:pPr>
            <a:r>
              <a:rPr lang="en-US" sz="1200" dirty="0">
                <a:solidFill>
                  <a:srgbClr val="2E6BD6"/>
                </a:solidFill>
                <a:latin typeface="JetBrains Mono" pitchFamily="49" charset="0"/>
                <a:ea typeface="JetBrains Mono" pitchFamily="49" charset="-122"/>
                <a:cs typeface="JetBrains Mono" pitchFamily="49" charset="-120"/>
              </a:rPr>
              <a:t>ListaProdutos.jsx</a:t>
            </a:r>
            <a:endParaRPr lang="en-US" sz="1200" dirty="0"/>
          </a:p>
          <a:p>
            <a:pPr algn="l" indent="0" marL="0">
              <a:lnSpc>
                <a:spcPts val="1920"/>
              </a:lnSpc>
              <a:buNone/>
            </a:pPr>
            <a:r>
              <a:rPr lang="en-US" sz="1200" dirty="0">
                <a:solidFill>
                  <a:srgbClr val="2E6BD6"/>
                </a:solidFill>
                <a:latin typeface="JetBrains Mono" pitchFamily="49" charset="0"/>
                <a:ea typeface="JetBrains Mono" pitchFamily="49" charset="-122"/>
                <a:cs typeface="JetBrains Mono" pitchFamily="49" charset="-120"/>
              </a:rPr>
              <a:t>NovoProduto.jsx</a:t>
            </a:r>
            <a:endParaRPr lang="en-US" sz="1200" dirty="0"/>
          </a:p>
          <a:p>
            <a:pPr algn="l" indent="0" marL="0">
              <a:lnSpc>
                <a:spcPts val="1920"/>
              </a:lnSpc>
              <a:buNone/>
            </a:pPr>
            <a:r>
              <a:rPr lang="en-US" sz="1200" dirty="0">
                <a:solidFill>
                  <a:srgbClr val="2E6BD6"/>
                </a:solidFill>
                <a:latin typeface="JetBrains Mono" pitchFamily="49" charset="0"/>
                <a:ea typeface="JetBrains Mono" pitchFamily="49" charset="-122"/>
                <a:cs typeface="JetBrains Mono" pitchFamily="49" charset="-120"/>
              </a:rPr>
              <a:t>EditarProduto.jsx</a:t>
            </a:r>
            <a:endParaRPr lang="en-US" sz="1200" dirty="0"/>
          </a:p>
          <a:p>
            <a:pPr algn="l" indent="0" marL="0">
              <a:lnSpc>
                <a:spcPts val="1920"/>
              </a:lnSpc>
              <a:buNone/>
            </a:pPr>
            <a:r>
              <a:rPr lang="en-US" sz="1200" dirty="0">
                <a:solidFill>
                  <a:srgbClr val="2E6BD6"/>
                </a:solidFill>
                <a:latin typeface="JetBrains Mono" pitchFamily="49" charset="0"/>
                <a:ea typeface="JetBrains Mono" pitchFamily="49" charset="-122"/>
                <a:cs typeface="JetBrains Mono" pitchFamily="49" charset="-120"/>
              </a:rPr>
              <a:t>Modal.jsx</a:t>
            </a:r>
            <a:endParaRPr lang="en-US" sz="1200" dirty="0"/>
          </a:p>
        </p:txBody>
      </p:sp>
      <p:pic>
        <p:nvPicPr>
          <p:cNvPr id="18" name="Image 2" descr="arrow-right">    </p:cNvPr>
          <p:cNvPicPr>
            <a:picLocks noChangeAspect="1"/>
          </p:cNvPicPr>
          <p:nvPr/>
        </p:nvPicPr>
        <p:blipFill>
          <a:blip r:embed="rId3"/>
          <a:srcRect l="0" r="0" t="0" b="0"/>
          <a:stretch/>
        </p:blipFill>
        <p:spPr>
          <a:xfrm>
            <a:off x="8712200" y="3002492"/>
            <a:ext cx="304800" cy="152400"/>
          </a:xfrm>
          <a:prstGeom prst="rect">
            <a:avLst/>
          </a:prstGeom>
        </p:spPr>
      </p:pic>
      <p:sp>
        <p:nvSpPr>
          <p:cNvPr id="19" name="Shape 14"/>
          <p:cNvSpPr/>
          <p:nvPr/>
        </p:nvSpPr>
        <p:spPr>
          <a:xfrm>
            <a:off x="9121775" y="1877695"/>
            <a:ext cx="2254250" cy="2401993"/>
          </a:xfrm>
          <a:prstGeom prst="roundRect">
            <a:avLst>
              <a:gd name="adj" fmla="val 4366"/>
            </a:avLst>
          </a:prstGeom>
          <a:solidFill>
            <a:srgbClr val="FDFCF9"/>
          </a:solidFill>
          <a:ln w="6350">
            <a:solidFill>
              <a:srgbClr val="DDDAD0"/>
            </a:solidFill>
            <a:prstDash val="solid"/>
          </a:ln>
        </p:spPr>
      </p:sp>
      <p:sp>
        <p:nvSpPr>
          <p:cNvPr id="20" name="Text 15"/>
          <p:cNvSpPr/>
          <p:nvPr/>
        </p:nvSpPr>
        <p:spPr>
          <a:xfrm>
            <a:off x="9301692" y="2057612"/>
            <a:ext cx="19512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IBM Plex Sans" pitchFamily="34" charset="0"/>
                <a:ea typeface="IBM Plex Sans" pitchFamily="34" charset="-122"/>
                <a:cs typeface="IBM Plex Sans" pitchFamily="34" charset="-120"/>
              </a:rPr>
              <a:t>Serviço</a:t>
            </a:r>
            <a:endParaRPr lang="en-US" sz="1600" dirty="0"/>
          </a:p>
        </p:txBody>
      </p:sp>
      <p:sp>
        <p:nvSpPr>
          <p:cNvPr id="21" name="Text 16"/>
          <p:cNvSpPr/>
          <p:nvPr/>
        </p:nvSpPr>
        <p:spPr>
          <a:xfrm>
            <a:off x="9301692" y="2377652"/>
            <a:ext cx="19512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Única camada que fala com a rede</a:t>
            </a:r>
            <a:endParaRPr lang="en-US" sz="1200" dirty="0"/>
          </a:p>
        </p:txBody>
      </p:sp>
      <p:sp>
        <p:nvSpPr>
          <p:cNvPr id="22" name="Text 17"/>
          <p:cNvSpPr/>
          <p:nvPr/>
        </p:nvSpPr>
        <p:spPr>
          <a:xfrm>
            <a:off x="9301692" y="2880571"/>
            <a:ext cx="1951249" cy="26924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2E6BD6"/>
                </a:solidFill>
                <a:latin typeface="JetBrains Mono" pitchFamily="49" charset="0"/>
                <a:ea typeface="JetBrains Mono" pitchFamily="49" charset="-122"/>
                <a:cs typeface="JetBrains Mono" pitchFamily="49" charset="-120"/>
              </a:rPr>
              <a:t>produtoService.js</a:t>
            </a:r>
            <a:endParaRPr lang="en-US" sz="1200" dirty="0"/>
          </a:p>
        </p:txBody>
      </p:sp>
      <p:sp>
        <p:nvSpPr>
          <p:cNvPr id="23" name="Text 18"/>
          <p:cNvSpPr/>
          <p:nvPr/>
        </p:nvSpPr>
        <p:spPr>
          <a:xfrm>
            <a:off x="9301692" y="3439371"/>
            <a:ext cx="1894417" cy="660400"/>
          </a:xfrm>
          <a:prstGeom prst="roundRect">
            <a:avLst>
              <a:gd name="adj" fmla="val 11538"/>
            </a:avLst>
          </a:prstGeom>
          <a:solidFill>
            <a:srgbClr val="1C2633"/>
          </a:solidFill>
          <a:ln/>
        </p:spPr>
        <p:txBody>
          <a:bodyPr wrap="square" lIns="104682" tIns="79282" rIns="53882" bIns="53882" rtlCol="0" anchor="t">
            <a:normAutofit/>
          </a:bodyPr>
          <a:lstStyle/>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fetch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localhost:8080</a:t>
            </a:r>
            <a:endParaRPr lang="en-US" sz="1200" dirty="0"/>
          </a:p>
        </p:txBody>
      </p:sp>
      <p:sp>
        <p:nvSpPr>
          <p:cNvPr id="24" name="Text 19"/>
          <p:cNvSpPr/>
          <p:nvPr/>
        </p:nvSpPr>
        <p:spPr>
          <a:xfrm>
            <a:off x="812800" y="4587663"/>
            <a:ext cx="981075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3"/>
                </a:solidFill>
                <a:latin typeface="IBM Plex Sans" pitchFamily="34" charset="0"/>
                <a:ea typeface="IBM Plex Sans" pitchFamily="34" charset="-122"/>
                <a:cs typeface="IBM Plex Sans" pitchFamily="34" charset="-120"/>
              </a:rPr>
              <a:t>Leia da esquerda para a direita: cada camada </a:t>
            </a:r>
            <a:r>
              <a:rPr lang="en-US" sz="1500" b="1" dirty="0">
                <a:solidFill>
                  <a:srgbClr val="18212C"/>
                </a:solidFill>
                <a:latin typeface="IBM Plex Sans" pitchFamily="34" charset="0"/>
                <a:ea typeface="IBM Plex Sans" pitchFamily="34" charset="-122"/>
                <a:cs typeface="IBM Plex Sans" pitchFamily="34" charset="-120"/>
              </a:rPr>
              <a:t>importa ou renderiza</a:t>
            </a:r>
            <a:r>
              <a:rPr lang="en-US" sz="1500" dirty="0">
                <a:solidFill>
                  <a:srgbClr val="4A5563"/>
                </a:solidFill>
                <a:latin typeface="IBM Plex Sans" pitchFamily="34" charset="0"/>
                <a:ea typeface="IBM Plex Sans" pitchFamily="34" charset="-122"/>
                <a:cs typeface="IBM Plex Sans" pitchFamily="34" charset="-120"/>
              </a:rPr>
              <a:t> a seguinte. As páginas nunca chamam </a:t>
            </a:r>
            <a:r>
              <a:rPr lang="en-US" sz="1500" dirty="0">
                <a:solidFill>
                  <a:srgbClr val="2E6BD6"/>
                </a:solidFill>
                <a:latin typeface="IBM Plex Sans" pitchFamily="34" charset="0"/>
                <a:ea typeface="IBM Plex Sans" pitchFamily="34" charset="-122"/>
                <a:cs typeface="IBM Plex Sans" pitchFamily="34" charset="-120"/>
              </a:rPr>
              <a:t>fetch</a:t>
            </a:r>
            <a:r>
              <a:rPr lang="en-US" sz="1500" dirty="0">
                <a:solidFill>
                  <a:srgbClr val="4A5563"/>
                </a:solidFill>
                <a:latin typeface="IBM Plex Sans" pitchFamily="34" charset="0"/>
                <a:ea typeface="IBM Plex Sans" pitchFamily="34" charset="-122"/>
                <a:cs typeface="IBM Plex Sans" pitchFamily="34" charset="-120"/>
              </a:rPr>
              <a:t> diretamente — sempre passam pelo serviço.</a:t>
            </a:r>
            <a:endParaRPr lang="en-US" sz="1500" dirty="0"/>
          </a:p>
        </p:txBody>
      </p:sp>
      <p:sp>
        <p:nvSpPr>
          <p:cNvPr id="25" name="Text 20"/>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01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02 · INICIALIZAÇÃO</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O Vite começa pelo index.html</a:t>
            </a:r>
            <a:endParaRPr lang="en-US" sz="3200" dirty="0"/>
          </a:p>
        </p:txBody>
      </p:sp>
      <p:sp>
        <p:nvSpPr>
          <p:cNvPr id="4" name="Text 2"/>
          <p:cNvSpPr/>
          <p:nvPr/>
        </p:nvSpPr>
        <p:spPr>
          <a:xfrm>
            <a:off x="812800" y="1874520"/>
            <a:ext cx="5334000" cy="2921000"/>
          </a:xfrm>
          <a:prstGeom prst="roundRect">
            <a:avLst>
              <a:gd name="adj" fmla="val 3478"/>
            </a:avLst>
          </a:prstGeom>
          <a:solidFill>
            <a:srgbClr val="1C2633"/>
          </a:solidFill>
          <a:ln/>
        </p:spPr>
        <p:txBody>
          <a:bodyPr wrap="square" lIns="224242" tIns="173442" rIns="79462" bIns="148042" rtlCol="0" anchor="t">
            <a:normAutofit/>
          </a:bodyPr>
          <a:lstStyle/>
          <a:p>
            <a:pPr algn="l" indent="0" marL="0">
              <a:lnSpc>
                <a:spcPts val="1800"/>
              </a:lnSpc>
              <a:buNone/>
            </a:pPr>
            <a:r>
              <a:rPr lang="en-US" sz="1200" dirty="0">
                <a:solidFill>
                  <a:srgbClr val="8FA1B3"/>
                </a:solidFill>
                <a:latin typeface="JetBrains Mono" pitchFamily="49" charset="0"/>
                <a:ea typeface="JetBrains Mono" pitchFamily="49" charset="-122"/>
                <a:cs typeface="JetBrains Mono" pitchFamily="49" charset="-120"/>
              </a:rPr>
              <a:t>// package.json</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"dev": </a:t>
            </a:r>
            <a:r>
              <a:rPr lang="en-US" sz="1200" dirty="0">
                <a:solidFill>
                  <a:srgbClr val="F2A65A"/>
                </a:solidFill>
                <a:latin typeface="JetBrains Mono" pitchFamily="49" charset="0"/>
                <a:ea typeface="JetBrains Mono" pitchFamily="49" charset="-122"/>
                <a:cs typeface="JetBrains Mono" pitchFamily="49" charset="-120"/>
              </a:rPr>
              <a:t>"vite"</a:t>
            </a:r>
            <a:endParaRPr lang="en-US" sz="1200" dirty="0"/>
          </a:p>
          <a:p>
            <a:pPr algn="l" indent="0" marL="0">
              <a:lnSpc>
                <a:spcPts val="1800"/>
              </a:lnSpc>
              <a:buNone/>
            </a:pPr>
            <a:endParaRPr lang="en-US" sz="1200" dirty="0"/>
          </a:p>
          <a:p>
            <a:pPr algn="l" indent="0" marL="0">
              <a:lnSpc>
                <a:spcPts val="1800"/>
              </a:lnSpc>
              <a:buNone/>
            </a:pPr>
            <a:r>
              <a:rPr lang="en-US" sz="1200" dirty="0">
                <a:solidFill>
                  <a:srgbClr val="8FA1B3"/>
                </a:solidFill>
                <a:latin typeface="JetBrains Mono" pitchFamily="49" charset="0"/>
                <a:ea typeface="JetBrains Mono" pitchFamily="49" charset="-122"/>
                <a:cs typeface="JetBrains Mono" pitchFamily="49" charset="-120"/>
              </a:rPr>
              <a:t>// vite.config.js</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plugins: [react()],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server: { port: </a:t>
            </a:r>
            <a:r>
              <a:rPr lang="en-US" sz="1200" dirty="0">
                <a:solidFill>
                  <a:srgbClr val="F2A65A"/>
                </a:solidFill>
                <a:latin typeface="JetBrains Mono" pitchFamily="49" charset="0"/>
                <a:ea typeface="JetBrains Mono" pitchFamily="49" charset="-122"/>
                <a:cs typeface="JetBrains Mono" pitchFamily="49" charset="-120"/>
              </a:rPr>
              <a:t>5173</a:t>
            </a:r>
            <a:r>
              <a:rPr lang="en-US" sz="1200" dirty="0">
                <a:solidFill>
                  <a:srgbClr val="E4E9EF"/>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endParaRPr lang="en-US" sz="1200" dirty="0"/>
          </a:p>
          <a:p>
            <a:pPr algn="l" indent="0" marL="0">
              <a:lnSpc>
                <a:spcPts val="1800"/>
              </a:lnSpc>
              <a:buNone/>
            </a:pPr>
            <a:r>
              <a:rPr lang="en-US" sz="1200" dirty="0">
                <a:solidFill>
                  <a:srgbClr val="8FA1B3"/>
                </a:solidFill>
                <a:latin typeface="JetBrains Mono" pitchFamily="49" charset="0"/>
                <a:ea typeface="JetBrains Mono" pitchFamily="49" charset="-122"/>
                <a:cs typeface="JetBrains Mono" pitchFamily="49" charset="-120"/>
              </a:rPr>
              <a:t>// index.html</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&lt;div id=</a:t>
            </a:r>
            <a:r>
              <a:rPr lang="en-US" sz="1200" dirty="0">
                <a:solidFill>
                  <a:srgbClr val="7FB2FF"/>
                </a:solidFill>
                <a:latin typeface="JetBrains Mono" pitchFamily="49" charset="0"/>
                <a:ea typeface="JetBrains Mono" pitchFamily="49" charset="-122"/>
                <a:cs typeface="JetBrains Mono" pitchFamily="49" charset="-120"/>
              </a:rPr>
              <a:t>"root"</a:t>
            </a:r>
            <a:r>
              <a:rPr lang="en-US" sz="1200" dirty="0">
                <a:solidFill>
                  <a:srgbClr val="E4E9EF"/>
                </a:solidFill>
                <a:latin typeface="JetBrains Mono" pitchFamily="49" charset="0"/>
                <a:ea typeface="JetBrains Mono" pitchFamily="49" charset="-122"/>
                <a:cs typeface="JetBrains Mono" pitchFamily="49" charset="-120"/>
              </a:rPr>
              <a:t>&gt;&lt;/div&gt;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&lt;script type="module"</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src=</a:t>
            </a:r>
            <a:r>
              <a:rPr lang="en-US" sz="1200" dirty="0">
                <a:solidFill>
                  <a:srgbClr val="7FB2FF"/>
                </a:solidFill>
                <a:latin typeface="JetBrains Mono" pitchFamily="49" charset="0"/>
                <a:ea typeface="JetBrains Mono" pitchFamily="49" charset="-122"/>
                <a:cs typeface="JetBrains Mono" pitchFamily="49" charset="-120"/>
              </a:rPr>
              <a:t>"/src/main.jsx"</a:t>
            </a:r>
            <a:r>
              <a:rPr lang="en-US" sz="1200" dirty="0">
                <a:solidFill>
                  <a:srgbClr val="E4E9EF"/>
                </a:solidFill>
                <a:latin typeface="JetBrains Mono" pitchFamily="49" charset="0"/>
                <a:ea typeface="JetBrains Mono" pitchFamily="49" charset="-122"/>
                <a:cs typeface="JetBrains Mono" pitchFamily="49" charset="-120"/>
              </a:rPr>
              <a:t>&gt;</a:t>
            </a:r>
            <a:endParaRPr lang="en-US" sz="1200" dirty="0"/>
          </a:p>
        </p:txBody>
      </p:sp>
      <p:sp>
        <p:nvSpPr>
          <p:cNvPr id="5" name="Shape 3"/>
          <p:cNvSpPr/>
          <p:nvPr/>
        </p:nvSpPr>
        <p:spPr>
          <a:xfrm>
            <a:off x="6464300" y="1874520"/>
            <a:ext cx="0" cy="778510"/>
          </a:xfrm>
          <a:prstGeom prst="line">
            <a:avLst/>
          </a:prstGeom>
          <a:noFill/>
          <a:ln w="25400">
            <a:solidFill>
              <a:srgbClr val="2E6BD6"/>
            </a:solidFill>
            <a:prstDash val="solid"/>
          </a:ln>
        </p:spPr>
      </p:sp>
      <p:sp>
        <p:nvSpPr>
          <p:cNvPr id="6" name="Text 4"/>
          <p:cNvSpPr/>
          <p:nvPr/>
        </p:nvSpPr>
        <p:spPr>
          <a:xfrm>
            <a:off x="6625167" y="1874520"/>
            <a:ext cx="48966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1 · npm run dev</a:t>
            </a:r>
            <a:endParaRPr lang="en-US" sz="1400" dirty="0"/>
          </a:p>
        </p:txBody>
      </p:sp>
      <p:sp>
        <p:nvSpPr>
          <p:cNvPr id="7" name="Text 5"/>
          <p:cNvSpPr/>
          <p:nvPr/>
        </p:nvSpPr>
        <p:spPr>
          <a:xfrm>
            <a:off x="6625167" y="2174239"/>
            <a:ext cx="489665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Executa o script “dev” do package.json, que sobe o Vite na porta 5173.</a:t>
            </a:r>
            <a:endParaRPr lang="en-US" sz="1300" dirty="0"/>
          </a:p>
        </p:txBody>
      </p:sp>
      <p:sp>
        <p:nvSpPr>
          <p:cNvPr id="8" name="Shape 6"/>
          <p:cNvSpPr/>
          <p:nvPr/>
        </p:nvSpPr>
        <p:spPr>
          <a:xfrm>
            <a:off x="6464300" y="2856230"/>
            <a:ext cx="0" cy="778510"/>
          </a:xfrm>
          <a:prstGeom prst="line">
            <a:avLst/>
          </a:prstGeom>
          <a:noFill/>
          <a:ln w="25400">
            <a:solidFill>
              <a:srgbClr val="2E6BD6"/>
            </a:solidFill>
            <a:prstDash val="solid"/>
          </a:ln>
        </p:spPr>
      </p:sp>
      <p:sp>
        <p:nvSpPr>
          <p:cNvPr id="9" name="Text 7"/>
          <p:cNvSpPr/>
          <p:nvPr/>
        </p:nvSpPr>
        <p:spPr>
          <a:xfrm>
            <a:off x="6625167" y="2856230"/>
            <a:ext cx="48966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2 · index.html</a:t>
            </a:r>
            <a:endParaRPr lang="en-US" sz="1400" dirty="0"/>
          </a:p>
        </p:txBody>
      </p:sp>
      <p:sp>
        <p:nvSpPr>
          <p:cNvPr id="10" name="Text 8"/>
          <p:cNvSpPr/>
          <p:nvPr/>
        </p:nvSpPr>
        <p:spPr>
          <a:xfrm>
            <a:off x="6625167" y="3155950"/>
            <a:ext cx="489665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O navegador recebe uma página quase vazia: só uma div com id “root”.</a:t>
            </a:r>
            <a:endParaRPr lang="en-US" sz="1300" dirty="0"/>
          </a:p>
        </p:txBody>
      </p:sp>
      <p:sp>
        <p:nvSpPr>
          <p:cNvPr id="11" name="Shape 9"/>
          <p:cNvSpPr/>
          <p:nvPr/>
        </p:nvSpPr>
        <p:spPr>
          <a:xfrm>
            <a:off x="6464300" y="3837939"/>
            <a:ext cx="0" cy="778510"/>
          </a:xfrm>
          <a:prstGeom prst="line">
            <a:avLst/>
          </a:prstGeom>
          <a:noFill/>
          <a:ln w="25400">
            <a:solidFill>
              <a:srgbClr val="2E6BD6"/>
            </a:solidFill>
            <a:prstDash val="solid"/>
          </a:ln>
        </p:spPr>
      </p:sp>
      <p:sp>
        <p:nvSpPr>
          <p:cNvPr id="12" name="Text 10"/>
          <p:cNvSpPr/>
          <p:nvPr/>
        </p:nvSpPr>
        <p:spPr>
          <a:xfrm>
            <a:off x="6625167" y="3837939"/>
            <a:ext cx="48966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3 · /src/main.jsx</a:t>
            </a:r>
            <a:endParaRPr lang="en-US" sz="1400" dirty="0"/>
          </a:p>
        </p:txBody>
      </p:sp>
      <p:sp>
        <p:nvSpPr>
          <p:cNvPr id="13" name="Text 11"/>
          <p:cNvSpPr/>
          <p:nvPr/>
        </p:nvSpPr>
        <p:spPr>
          <a:xfrm>
            <a:off x="6625167" y="4137661"/>
            <a:ext cx="489665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O script de módulo carrega main.jsx. A partir daqui, quem desenha a tela é o React.</a:t>
            </a:r>
            <a:endParaRPr lang="en-US" sz="1300" dirty="0"/>
          </a:p>
        </p:txBody>
      </p:sp>
      <p:sp>
        <p:nvSpPr>
          <p:cNvPr id="14"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02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03 · MAIN.JSX</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main.jsx pendura o React na div #root</a:t>
            </a:r>
            <a:endParaRPr lang="en-US" sz="3200" dirty="0"/>
          </a:p>
        </p:txBody>
      </p:sp>
      <p:sp>
        <p:nvSpPr>
          <p:cNvPr id="4" name="Text 2"/>
          <p:cNvSpPr/>
          <p:nvPr/>
        </p:nvSpPr>
        <p:spPr>
          <a:xfrm>
            <a:off x="812800" y="1874520"/>
            <a:ext cx="6350000" cy="3149600"/>
          </a:xfrm>
          <a:prstGeom prst="roundRect">
            <a:avLst>
              <a:gd name="adj" fmla="val 3226"/>
            </a:avLst>
          </a:prstGeom>
          <a:solidFill>
            <a:srgbClr val="1C2633"/>
          </a:solidFill>
          <a:ln/>
        </p:spPr>
        <p:txBody>
          <a:bodyPr wrap="square" lIns="224242" tIns="173442" rIns="48982" bIns="148042" rtlCol="0" anchor="t">
            <a:normAutofit/>
          </a:bodyPr>
          <a:lstStyle/>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import { </a:t>
            </a:r>
            <a:r>
              <a:rPr lang="en-US" sz="1200" dirty="0">
                <a:solidFill>
                  <a:srgbClr val="F2A65A"/>
                </a:solidFill>
                <a:latin typeface="JetBrains Mono" pitchFamily="49" charset="0"/>
                <a:ea typeface="JetBrains Mono" pitchFamily="49" charset="-122"/>
                <a:cs typeface="JetBrains Mono" pitchFamily="49" charset="-120"/>
              </a:rPr>
              <a:t>BrowserRouter</a:t>
            </a:r>
            <a:r>
              <a:rPr lang="en-US" sz="1200" dirty="0">
                <a:solidFill>
                  <a:srgbClr val="E4E9EF"/>
                </a:solidFill>
                <a:latin typeface="JetBrains Mono" pitchFamily="49" charset="0"/>
                <a:ea typeface="JetBrains Mono" pitchFamily="49" charset="-122"/>
                <a:cs typeface="JetBrains Mono" pitchFamily="49" charset="-120"/>
              </a:rPr>
              <a:t> } from 'react-router-dom';</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import App from './App';</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import </a:t>
            </a:r>
            <a:r>
              <a:rPr lang="en-US" sz="1200" dirty="0">
                <a:solidFill>
                  <a:srgbClr val="F2A65A"/>
                </a:solidFill>
                <a:latin typeface="JetBrains Mono" pitchFamily="49" charset="0"/>
                <a:ea typeface="JetBrains Mono" pitchFamily="49" charset="-122"/>
                <a:cs typeface="JetBrains Mono" pitchFamily="49" charset="-120"/>
              </a:rPr>
              <a:t>'./index.css'</a:t>
            </a:r>
            <a:r>
              <a:rPr lang="en-US" sz="1200" dirty="0">
                <a:solidFill>
                  <a:srgbClr val="E4E9EF"/>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ReactDOM.createRoot(document.getElementById(</a:t>
            </a:r>
            <a:r>
              <a:rPr lang="en-US" sz="1200" dirty="0">
                <a:solidFill>
                  <a:srgbClr val="7FB2FF"/>
                </a:solidFill>
                <a:latin typeface="JetBrains Mono" pitchFamily="49" charset="0"/>
                <a:ea typeface="JetBrains Mono" pitchFamily="49" charset="-122"/>
                <a:cs typeface="JetBrains Mono" pitchFamily="49" charset="-120"/>
              </a:rPr>
              <a:t>'root'</a:t>
            </a:r>
            <a:r>
              <a:rPr lang="en-US" sz="1200" dirty="0">
                <a:solidFill>
                  <a:srgbClr val="E4E9EF"/>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.render(</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&lt;React.StrictMode&gt;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a:t>
            </a:r>
            <a:r>
              <a:rPr lang="en-US" sz="1200" dirty="0">
                <a:solidFill>
                  <a:srgbClr val="F2A65A"/>
                </a:solidFill>
                <a:latin typeface="JetBrains Mono" pitchFamily="49" charset="0"/>
                <a:ea typeface="JetBrains Mono" pitchFamily="49" charset="-122"/>
                <a:cs typeface="JetBrains Mono" pitchFamily="49" charset="-120"/>
              </a:rPr>
              <a:t>BrowserRouter</a:t>
            </a:r>
            <a:r>
              <a:rPr lang="en-US" sz="1200" dirty="0">
                <a:solidFill>
                  <a:srgbClr val="E4E9EF"/>
                </a:solidFill>
                <a:latin typeface="JetBrains Mono" pitchFamily="49" charset="0"/>
                <a:ea typeface="JetBrains Mono" pitchFamily="49" charset="-122"/>
                <a:cs typeface="JetBrains Mono" pitchFamily="49" charset="-120"/>
              </a:rPr>
              <a:t>&gt;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&lt;App /&gt;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a:t>
            </a:r>
            <a:r>
              <a:rPr lang="en-US" sz="1200" dirty="0">
                <a:solidFill>
                  <a:srgbClr val="F2A65A"/>
                </a:solidFill>
                <a:latin typeface="JetBrains Mono" pitchFamily="49" charset="0"/>
                <a:ea typeface="JetBrains Mono" pitchFamily="49" charset="-122"/>
                <a:cs typeface="JetBrains Mono" pitchFamily="49" charset="-120"/>
              </a:rPr>
              <a:t>BrowserRouter</a:t>
            </a:r>
            <a:r>
              <a:rPr lang="en-US" sz="1200" dirty="0">
                <a:solidFill>
                  <a:srgbClr val="E4E9EF"/>
                </a:solidFill>
                <a:latin typeface="JetBrains Mono" pitchFamily="49" charset="0"/>
                <a:ea typeface="JetBrains Mono" pitchFamily="49" charset="-122"/>
                <a:cs typeface="JetBrains Mono" pitchFamily="49" charset="-120"/>
              </a:rPr>
              <a:t>&gt;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&lt;/React.StrictMode&gt;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a:t>
            </a:r>
            <a:endParaRPr lang="en-US" sz="1200" dirty="0"/>
          </a:p>
        </p:txBody>
      </p:sp>
      <p:sp>
        <p:nvSpPr>
          <p:cNvPr id="5" name="Shape 3"/>
          <p:cNvSpPr/>
          <p:nvPr/>
        </p:nvSpPr>
        <p:spPr>
          <a:xfrm>
            <a:off x="7480300" y="1874520"/>
            <a:ext cx="0" cy="778510"/>
          </a:xfrm>
          <a:prstGeom prst="line">
            <a:avLst/>
          </a:prstGeom>
          <a:noFill/>
          <a:ln w="25400">
            <a:solidFill>
              <a:srgbClr val="7FB2FF"/>
            </a:solidFill>
            <a:prstDash val="solid"/>
          </a:ln>
        </p:spPr>
      </p:sp>
      <p:sp>
        <p:nvSpPr>
          <p:cNvPr id="6" name="Text 4"/>
          <p:cNvSpPr/>
          <p:nvPr/>
        </p:nvSpPr>
        <p:spPr>
          <a:xfrm>
            <a:off x="7641167" y="1874520"/>
            <a:ext cx="385017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'root'</a:t>
            </a:r>
            <a:endParaRPr lang="en-US" sz="1400" dirty="0"/>
          </a:p>
        </p:txBody>
      </p:sp>
      <p:sp>
        <p:nvSpPr>
          <p:cNvPr id="7" name="Text 5"/>
          <p:cNvSpPr/>
          <p:nvPr/>
        </p:nvSpPr>
        <p:spPr>
          <a:xfrm>
            <a:off x="7641167" y="2174239"/>
            <a:ext cx="385017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É a mesma div do index.html. O React passa a controlar tudo dentro dela.</a:t>
            </a:r>
            <a:endParaRPr lang="en-US" sz="1300" dirty="0"/>
          </a:p>
        </p:txBody>
      </p:sp>
      <p:sp>
        <p:nvSpPr>
          <p:cNvPr id="8" name="Shape 6"/>
          <p:cNvSpPr/>
          <p:nvPr/>
        </p:nvSpPr>
        <p:spPr>
          <a:xfrm>
            <a:off x="7480300" y="2856230"/>
            <a:ext cx="0" cy="778510"/>
          </a:xfrm>
          <a:prstGeom prst="line">
            <a:avLst/>
          </a:prstGeom>
          <a:noFill/>
          <a:ln w="25400">
            <a:solidFill>
              <a:srgbClr val="D9792B"/>
            </a:solidFill>
            <a:prstDash val="solid"/>
          </a:ln>
        </p:spPr>
      </p:sp>
      <p:sp>
        <p:nvSpPr>
          <p:cNvPr id="9" name="Text 7"/>
          <p:cNvSpPr/>
          <p:nvPr/>
        </p:nvSpPr>
        <p:spPr>
          <a:xfrm>
            <a:off x="7641167" y="2856230"/>
            <a:ext cx="385017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BrowserRouter</a:t>
            </a:r>
            <a:endParaRPr lang="en-US" sz="1400" dirty="0"/>
          </a:p>
        </p:txBody>
      </p:sp>
      <p:sp>
        <p:nvSpPr>
          <p:cNvPr id="10" name="Text 8"/>
          <p:cNvSpPr/>
          <p:nvPr/>
        </p:nvSpPr>
        <p:spPr>
          <a:xfrm>
            <a:off x="7641167" y="3155950"/>
            <a:ext cx="385017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Dá ao App acesso à URL. useNavigate, useParams, useLocation e NavLink só funcionam aqui dentro.</a:t>
            </a:r>
            <a:endParaRPr lang="en-US" sz="1300" dirty="0"/>
          </a:p>
        </p:txBody>
      </p:sp>
      <p:sp>
        <p:nvSpPr>
          <p:cNvPr id="11" name="Shape 9"/>
          <p:cNvSpPr/>
          <p:nvPr/>
        </p:nvSpPr>
        <p:spPr>
          <a:xfrm>
            <a:off x="7480300" y="3837939"/>
            <a:ext cx="0" cy="539115"/>
          </a:xfrm>
          <a:prstGeom prst="line">
            <a:avLst/>
          </a:prstGeom>
          <a:noFill/>
          <a:ln w="25400">
            <a:solidFill>
              <a:srgbClr val="D9792B"/>
            </a:solidFill>
            <a:prstDash val="solid"/>
          </a:ln>
        </p:spPr>
      </p:sp>
      <p:sp>
        <p:nvSpPr>
          <p:cNvPr id="12" name="Text 10"/>
          <p:cNvSpPr/>
          <p:nvPr/>
        </p:nvSpPr>
        <p:spPr>
          <a:xfrm>
            <a:off x="7641167" y="3837939"/>
            <a:ext cx="385017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import './index.css'</a:t>
            </a:r>
            <a:endParaRPr lang="en-US" sz="1400" dirty="0"/>
          </a:p>
        </p:txBody>
      </p:sp>
      <p:sp>
        <p:nvSpPr>
          <p:cNvPr id="13" name="Text 11"/>
          <p:cNvSpPr/>
          <p:nvPr/>
        </p:nvSpPr>
        <p:spPr>
          <a:xfrm>
            <a:off x="7641167" y="4137661"/>
            <a:ext cx="3850174"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Um único CSS vale para o app inteiro.</a:t>
            </a:r>
            <a:endParaRPr lang="en-US" sz="1300" dirty="0"/>
          </a:p>
        </p:txBody>
      </p:sp>
      <p:sp>
        <p:nvSpPr>
          <p:cNvPr id="14"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04 · APP.JSX</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App.jsx traduz URL em página</a:t>
            </a:r>
            <a:endParaRPr lang="en-US" sz="3200" dirty="0"/>
          </a:p>
        </p:txBody>
      </p:sp>
      <p:sp>
        <p:nvSpPr>
          <p:cNvPr id="4" name="Text 2"/>
          <p:cNvSpPr/>
          <p:nvPr/>
        </p:nvSpPr>
        <p:spPr>
          <a:xfrm>
            <a:off x="812800" y="1874521"/>
            <a:ext cx="7366000" cy="2921000"/>
          </a:xfrm>
          <a:prstGeom prst="roundRect">
            <a:avLst>
              <a:gd name="adj" fmla="val 3478"/>
            </a:avLst>
          </a:prstGeom>
          <a:solidFill>
            <a:srgbClr val="1C2633"/>
          </a:solidFill>
          <a:ln/>
        </p:spPr>
        <p:txBody>
          <a:bodyPr wrap="square" lIns="224242" tIns="173442" rIns="18502" bIns="148042" rtlCol="0" anchor="t">
            <a:normAutofit/>
          </a:bodyPr>
          <a:lstStyle/>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&lt;&gt;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a:t>
            </a:r>
            <a:r>
              <a:rPr lang="en-US" sz="1200" dirty="0">
                <a:solidFill>
                  <a:srgbClr val="F2A65A"/>
                </a:solidFill>
                <a:latin typeface="JetBrains Mono" pitchFamily="49" charset="0"/>
                <a:ea typeface="JetBrains Mono" pitchFamily="49" charset="-122"/>
                <a:cs typeface="JetBrains Mono" pitchFamily="49" charset="-120"/>
              </a:rPr>
              <a:t>Menu</a:t>
            </a:r>
            <a:r>
              <a:rPr lang="en-US" sz="1200" dirty="0">
                <a:solidFill>
                  <a:srgbClr val="E4E9EF"/>
                </a:solidFill>
                <a:latin typeface="JetBrains Mono" pitchFamily="49" charset="0"/>
                <a:ea typeface="JetBrains Mono" pitchFamily="49" charset="-122"/>
                <a:cs typeface="JetBrains Mono" pitchFamily="49" charset="-120"/>
              </a:rPr>
              <a:t> /&gt;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&lt;div className="container"&gt;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&lt;Routes&gt;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&lt;Route path=</a:t>
            </a:r>
            <a:r>
              <a:rPr lang="en-US" sz="1200" dirty="0">
                <a:solidFill>
                  <a:srgbClr val="7FB2FF"/>
                </a:solidFill>
                <a:latin typeface="JetBrains Mono" pitchFamily="49" charset="0"/>
                <a:ea typeface="JetBrains Mono" pitchFamily="49" charset="-122"/>
                <a:cs typeface="JetBrains Mono" pitchFamily="49" charset="-120"/>
              </a:rPr>
              <a:t>"/"</a:t>
            </a:r>
            <a:r>
              <a:rPr lang="en-US" sz="1200" dirty="0">
                <a:solidFill>
                  <a:srgbClr val="E4E9EF"/>
                </a:solidFill>
                <a:latin typeface="JetBrains Mono" pitchFamily="49" charset="0"/>
                <a:ea typeface="JetBrains Mono" pitchFamily="49" charset="-122"/>
                <a:cs typeface="JetBrains Mono" pitchFamily="49" charset="-120"/>
              </a:rPr>
              <a:t>                    element={&lt;Principal /&gt;} /&gt;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&lt;Route path=</a:t>
            </a:r>
            <a:r>
              <a:rPr lang="en-US" sz="1200" dirty="0">
                <a:solidFill>
                  <a:srgbClr val="7FB2FF"/>
                </a:solidFill>
                <a:latin typeface="JetBrains Mono" pitchFamily="49" charset="0"/>
                <a:ea typeface="JetBrains Mono" pitchFamily="49" charset="-122"/>
                <a:cs typeface="JetBrains Mono" pitchFamily="49" charset="-120"/>
              </a:rPr>
              <a:t>"/produtos"</a:t>
            </a:r>
            <a:r>
              <a:rPr lang="en-US" sz="1200" dirty="0">
                <a:solidFill>
                  <a:srgbClr val="E4E9EF"/>
                </a:solidFill>
                <a:latin typeface="JetBrains Mono" pitchFamily="49" charset="0"/>
                <a:ea typeface="JetBrains Mono" pitchFamily="49" charset="-122"/>
                <a:cs typeface="JetBrains Mono" pitchFamily="49" charset="-120"/>
              </a:rPr>
              <a:t>            element={&lt;ListaProdutos /&gt;} /&gt;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&lt;Route path=</a:t>
            </a:r>
            <a:r>
              <a:rPr lang="en-US" sz="1200" dirty="0">
                <a:solidFill>
                  <a:srgbClr val="7FB2FF"/>
                </a:solidFill>
                <a:latin typeface="JetBrains Mono" pitchFamily="49" charset="0"/>
                <a:ea typeface="JetBrains Mono" pitchFamily="49" charset="-122"/>
                <a:cs typeface="JetBrains Mono" pitchFamily="49" charset="-120"/>
              </a:rPr>
              <a:t>"/produtos/novo"</a:t>
            </a:r>
            <a:r>
              <a:rPr lang="en-US" sz="1200" dirty="0">
                <a:solidFill>
                  <a:srgbClr val="E4E9EF"/>
                </a:solidFill>
                <a:latin typeface="JetBrains Mono" pitchFamily="49" charset="0"/>
                <a:ea typeface="JetBrains Mono" pitchFamily="49" charset="-122"/>
                <a:cs typeface="JetBrains Mono" pitchFamily="49" charset="-120"/>
              </a:rPr>
              <a:t>       element={&lt;NovoProduto /&gt;} /&gt;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&lt;Route path=</a:t>
            </a:r>
            <a:r>
              <a:rPr lang="en-US" sz="1200" dirty="0">
                <a:solidFill>
                  <a:srgbClr val="7FB2FF"/>
                </a:solidFill>
                <a:latin typeface="JetBrains Mono" pitchFamily="49" charset="0"/>
                <a:ea typeface="JetBrains Mono" pitchFamily="49" charset="-122"/>
                <a:cs typeface="JetBrains Mono" pitchFamily="49" charset="-120"/>
              </a:rPr>
              <a:t>"/produtos/editar/</a:t>
            </a:r>
            <a:r>
              <a:rPr lang="en-US" sz="1200" dirty="0">
                <a:solidFill>
                  <a:srgbClr val="F2A65A"/>
                </a:solidFill>
                <a:latin typeface="JetBrains Mono" pitchFamily="49" charset="0"/>
                <a:ea typeface="JetBrains Mono" pitchFamily="49" charset="-122"/>
                <a:cs typeface="JetBrains Mono" pitchFamily="49" charset="-120"/>
              </a:rPr>
              <a:t>:id</a:t>
            </a:r>
            <a:r>
              <a:rPr lang="en-US" sz="1200" dirty="0">
                <a:solidFill>
                  <a:srgbClr val="7FB2FF"/>
                </a:solidFill>
                <a:latin typeface="JetBrains Mono" pitchFamily="49" charset="0"/>
                <a:ea typeface="JetBrains Mono" pitchFamily="49" charset="-122"/>
                <a:cs typeface="JetBrains Mono" pitchFamily="49" charset="-120"/>
              </a:rPr>
              <a:t>"</a:t>
            </a:r>
            <a:r>
              <a:rPr lang="en-US" sz="1200" dirty="0">
                <a:solidFill>
                  <a:srgbClr val="E4E9EF"/>
                </a:solidFill>
                <a:latin typeface="JetBrains Mono" pitchFamily="49" charset="0"/>
                <a:ea typeface="JetBrains Mono" pitchFamily="49" charset="-122"/>
                <a:cs typeface="JetBrains Mono" pitchFamily="49" charset="-120"/>
              </a:rPr>
              <a:t> element={&lt;EditarProduto /&gt;} /&gt;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&lt;/Routes&gt;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&lt;/div&gt;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&lt;/&gt;</a:t>
            </a:r>
            <a:endParaRPr lang="en-US" sz="1200" dirty="0"/>
          </a:p>
        </p:txBody>
      </p:sp>
      <p:sp>
        <p:nvSpPr>
          <p:cNvPr id="5" name="Shape 3"/>
          <p:cNvSpPr/>
          <p:nvPr/>
        </p:nvSpPr>
        <p:spPr>
          <a:xfrm>
            <a:off x="8496300" y="1874521"/>
            <a:ext cx="0" cy="778510"/>
          </a:xfrm>
          <a:prstGeom prst="line">
            <a:avLst/>
          </a:prstGeom>
          <a:noFill/>
          <a:ln w="25400">
            <a:solidFill>
              <a:srgbClr val="D9792B"/>
            </a:solidFill>
            <a:prstDash val="solid"/>
          </a:ln>
        </p:spPr>
      </p:sp>
      <p:sp>
        <p:nvSpPr>
          <p:cNvPr id="6" name="Text 4"/>
          <p:cNvSpPr/>
          <p:nvPr/>
        </p:nvSpPr>
        <p:spPr>
          <a:xfrm>
            <a:off x="8657167" y="1874521"/>
            <a:ext cx="28036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Menu fora das Routes</a:t>
            </a:r>
            <a:endParaRPr lang="en-US" sz="1400" dirty="0"/>
          </a:p>
        </p:txBody>
      </p:sp>
      <p:sp>
        <p:nvSpPr>
          <p:cNvPr id="7" name="Text 5"/>
          <p:cNvSpPr/>
          <p:nvPr/>
        </p:nvSpPr>
        <p:spPr>
          <a:xfrm>
            <a:off x="8657167" y="2174239"/>
            <a:ext cx="280369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Não depende da URL, então aparece em todas as páginas.</a:t>
            </a:r>
            <a:endParaRPr lang="en-US" sz="1300" dirty="0"/>
          </a:p>
        </p:txBody>
      </p:sp>
      <p:sp>
        <p:nvSpPr>
          <p:cNvPr id="8" name="Shape 6"/>
          <p:cNvSpPr/>
          <p:nvPr/>
        </p:nvSpPr>
        <p:spPr>
          <a:xfrm>
            <a:off x="8496300" y="2856229"/>
            <a:ext cx="0" cy="778510"/>
          </a:xfrm>
          <a:prstGeom prst="line">
            <a:avLst/>
          </a:prstGeom>
          <a:noFill/>
          <a:ln w="25400">
            <a:solidFill>
              <a:srgbClr val="D9792B"/>
            </a:solidFill>
            <a:prstDash val="solid"/>
          </a:ln>
        </p:spPr>
      </p:sp>
      <p:sp>
        <p:nvSpPr>
          <p:cNvPr id="9" name="Text 7"/>
          <p:cNvSpPr/>
          <p:nvPr/>
        </p:nvSpPr>
        <p:spPr>
          <a:xfrm>
            <a:off x="8657167" y="2856229"/>
            <a:ext cx="28036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:id é um parâmetro</a:t>
            </a:r>
            <a:endParaRPr lang="en-US" sz="1400" dirty="0"/>
          </a:p>
        </p:txBody>
      </p:sp>
      <p:sp>
        <p:nvSpPr>
          <p:cNvPr id="10" name="Text 8"/>
          <p:cNvSpPr/>
          <p:nvPr/>
        </p:nvSpPr>
        <p:spPr>
          <a:xfrm>
            <a:off x="8657167" y="3155950"/>
            <a:ext cx="280369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/produtos/editar/7 entrega id = “7” ao useParams() de EditarProduto.</a:t>
            </a:r>
            <a:endParaRPr lang="en-US" sz="1300" dirty="0"/>
          </a:p>
        </p:txBody>
      </p:sp>
      <p:sp>
        <p:nvSpPr>
          <p:cNvPr id="11" name="Text 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04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05 · COMPONENTS/MENU.JSX</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NavLink sabe qual página está aberta</a:t>
            </a:r>
            <a:endParaRPr lang="en-US" sz="3200" dirty="0"/>
          </a:p>
        </p:txBody>
      </p:sp>
      <p:sp>
        <p:nvSpPr>
          <p:cNvPr id="4" name="Text 2"/>
          <p:cNvSpPr/>
          <p:nvPr/>
        </p:nvSpPr>
        <p:spPr>
          <a:xfrm>
            <a:off x="812800" y="1874521"/>
            <a:ext cx="6604000" cy="3378200"/>
          </a:xfrm>
          <a:prstGeom prst="roundRect">
            <a:avLst>
              <a:gd name="adj" fmla="val 3008"/>
            </a:avLst>
          </a:prstGeom>
          <a:solidFill>
            <a:srgbClr val="1C2633"/>
          </a:solidFill>
          <a:ln/>
        </p:spPr>
        <p:txBody>
          <a:bodyPr wrap="square" lIns="224242" tIns="173442" rIns="41362" bIns="148042" rtlCol="0" anchor="t">
            <a:normAutofit/>
          </a:bodyPr>
          <a:lstStyle/>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function classeLink({ </a:t>
            </a:r>
            <a:r>
              <a:rPr lang="en-US" sz="1200" dirty="0">
                <a:solidFill>
                  <a:srgbClr val="F2A65A"/>
                </a:solidFill>
                <a:latin typeface="JetBrains Mono" pitchFamily="49" charset="0"/>
                <a:ea typeface="JetBrains Mono" pitchFamily="49" charset="-122"/>
                <a:cs typeface="JetBrains Mono" pitchFamily="49" charset="-120"/>
              </a:rPr>
              <a:t>isActive</a:t>
            </a:r>
            <a:r>
              <a:rPr lang="en-US" sz="1200" dirty="0">
                <a:solidFill>
                  <a:srgbClr val="E4E9EF"/>
                </a:solidFill>
                <a:latin typeface="JetBrains Mono" pitchFamily="49" charset="0"/>
                <a:ea typeface="JetBrains Mono" pitchFamily="49" charset="-122"/>
                <a:cs typeface="JetBrains Mono" pitchFamily="49" charset="-120"/>
              </a:rPr>
              <a:t> })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if (</a:t>
            </a:r>
            <a:r>
              <a:rPr lang="en-US" sz="1200" dirty="0">
                <a:solidFill>
                  <a:srgbClr val="F2A65A"/>
                </a:solidFill>
                <a:latin typeface="JetBrains Mono" pitchFamily="49" charset="0"/>
                <a:ea typeface="JetBrains Mono" pitchFamily="49" charset="-122"/>
                <a:cs typeface="JetBrains Mono" pitchFamily="49" charset="-120"/>
              </a:rPr>
              <a:t>isActive</a:t>
            </a:r>
            <a:r>
              <a:rPr lang="en-US" sz="1200" dirty="0">
                <a:solidFill>
                  <a:srgbClr val="E4E9EF"/>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return 'menu-item </a:t>
            </a:r>
            <a:r>
              <a:rPr lang="en-US" sz="1200" dirty="0">
                <a:solidFill>
                  <a:srgbClr val="7FB2FF"/>
                </a:solidFill>
                <a:latin typeface="JetBrains Mono" pitchFamily="49" charset="0"/>
                <a:ea typeface="JetBrains Mono" pitchFamily="49" charset="-122"/>
                <a:cs typeface="JetBrains Mono" pitchFamily="49" charset="-120"/>
              </a:rPr>
              <a:t>menu-item-ativo</a:t>
            </a:r>
            <a:r>
              <a:rPr lang="en-US" sz="1200" dirty="0">
                <a:solidFill>
                  <a:srgbClr val="E4E9EF"/>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return 'menu-item';</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&lt;NavLink to="/produtos" className={classeLink}&gt;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Produtos&lt;/NavLink&gt;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&lt;</a:t>
            </a:r>
            <a:r>
              <a:rPr lang="en-US" sz="1200" dirty="0">
                <a:solidFill>
                  <a:srgbClr val="7FB2FF"/>
                </a:solidFill>
                <a:latin typeface="JetBrains Mono" pitchFamily="49" charset="0"/>
                <a:ea typeface="JetBrains Mono" pitchFamily="49" charset="-122"/>
                <a:cs typeface="JetBrains Mono" pitchFamily="49" charset="-120"/>
              </a:rPr>
              <a:t>span</a:t>
            </a:r>
            <a:r>
              <a:rPr lang="en-US" sz="1200" dirty="0">
                <a:solidFill>
                  <a:srgbClr val="E4E9EF"/>
                </a:solidFill>
                <a:latin typeface="JetBrains Mono" pitchFamily="49" charset="0"/>
                <a:ea typeface="JetBrains Mono" pitchFamily="49" charset="-122"/>
                <a:cs typeface="JetBrains Mono" pitchFamily="49" charset="-120"/>
              </a:rPr>
              <a:t> className="menu-item menu-item-desabilitado"&gt;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Usuários&lt;/span&gt;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&lt;NavLink to="/" </a:t>
            </a:r>
            <a:r>
              <a:rPr lang="en-US" sz="1200" dirty="0">
                <a:solidFill>
                  <a:srgbClr val="F2A65A"/>
                </a:solidFill>
                <a:latin typeface="JetBrains Mono" pitchFamily="49" charset="0"/>
                <a:ea typeface="JetBrains Mono" pitchFamily="49" charset="-122"/>
                <a:cs typeface="JetBrains Mono" pitchFamily="49" charset="-120"/>
              </a:rPr>
              <a:t>end</a:t>
            </a:r>
            <a:r>
              <a:rPr lang="en-US" sz="1200" dirty="0">
                <a:solidFill>
                  <a:srgbClr val="E4E9EF"/>
                </a:solidFill>
                <a:latin typeface="JetBrains Mono" pitchFamily="49" charset="0"/>
                <a:ea typeface="JetBrains Mono" pitchFamily="49" charset="-122"/>
                <a:cs typeface="JetBrains Mono" pitchFamily="49" charset="-120"/>
              </a:rPr>
              <a:t> className={classeLink}&gt;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Principal&lt;/NavLink&gt;</a:t>
            </a:r>
            <a:endParaRPr lang="en-US" sz="1200" dirty="0"/>
          </a:p>
        </p:txBody>
      </p:sp>
      <p:sp>
        <p:nvSpPr>
          <p:cNvPr id="5" name="Shape 3"/>
          <p:cNvSpPr/>
          <p:nvPr/>
        </p:nvSpPr>
        <p:spPr>
          <a:xfrm>
            <a:off x="7734300" y="1874521"/>
            <a:ext cx="0" cy="778510"/>
          </a:xfrm>
          <a:prstGeom prst="line">
            <a:avLst/>
          </a:prstGeom>
          <a:noFill/>
          <a:ln w="25400">
            <a:solidFill>
              <a:srgbClr val="D9792B"/>
            </a:solidFill>
            <a:prstDash val="solid"/>
          </a:ln>
        </p:spPr>
      </p:sp>
      <p:sp>
        <p:nvSpPr>
          <p:cNvPr id="6" name="Text 4"/>
          <p:cNvSpPr/>
          <p:nvPr/>
        </p:nvSpPr>
        <p:spPr>
          <a:xfrm>
            <a:off x="7895167" y="1874521"/>
            <a:ext cx="35885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isActive</a:t>
            </a:r>
            <a:endParaRPr lang="en-US" sz="1400" dirty="0"/>
          </a:p>
        </p:txBody>
      </p:sp>
      <p:sp>
        <p:nvSpPr>
          <p:cNvPr id="7" name="Text 5"/>
          <p:cNvSpPr/>
          <p:nvPr/>
        </p:nvSpPr>
        <p:spPr>
          <a:xfrm>
            <a:off x="7895167" y="2174239"/>
            <a:ext cx="358855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O NavLink chama classeLink com true quando a URL casa com o “to”.</a:t>
            </a:r>
            <a:endParaRPr lang="en-US" sz="1300" dirty="0"/>
          </a:p>
        </p:txBody>
      </p:sp>
      <p:sp>
        <p:nvSpPr>
          <p:cNvPr id="8" name="Shape 6"/>
          <p:cNvSpPr/>
          <p:nvPr/>
        </p:nvSpPr>
        <p:spPr>
          <a:xfrm>
            <a:off x="7734300" y="2856229"/>
            <a:ext cx="0" cy="778510"/>
          </a:xfrm>
          <a:prstGeom prst="line">
            <a:avLst/>
          </a:prstGeom>
          <a:noFill/>
          <a:ln w="25400">
            <a:solidFill>
              <a:srgbClr val="D9792B"/>
            </a:solidFill>
            <a:prstDash val="solid"/>
          </a:ln>
        </p:spPr>
      </p:sp>
      <p:sp>
        <p:nvSpPr>
          <p:cNvPr id="9" name="Text 7"/>
          <p:cNvSpPr/>
          <p:nvPr/>
        </p:nvSpPr>
        <p:spPr>
          <a:xfrm>
            <a:off x="7895167" y="2856229"/>
            <a:ext cx="35885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end no “/”</a:t>
            </a:r>
            <a:endParaRPr lang="en-US" sz="1400" dirty="0"/>
          </a:p>
        </p:txBody>
      </p:sp>
      <p:sp>
        <p:nvSpPr>
          <p:cNvPr id="10" name="Text 8"/>
          <p:cNvSpPr/>
          <p:nvPr/>
        </p:nvSpPr>
        <p:spPr>
          <a:xfrm>
            <a:off x="7895167" y="3155950"/>
            <a:ext cx="358855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Sem ele, “/” casaria com qualquer URL e Principal ficaria sempre ativo.</a:t>
            </a:r>
            <a:endParaRPr lang="en-US" sz="1300" dirty="0"/>
          </a:p>
        </p:txBody>
      </p:sp>
      <p:sp>
        <p:nvSpPr>
          <p:cNvPr id="11" name="Shape 9"/>
          <p:cNvSpPr/>
          <p:nvPr/>
        </p:nvSpPr>
        <p:spPr>
          <a:xfrm>
            <a:off x="7734300" y="3837939"/>
            <a:ext cx="0" cy="778510"/>
          </a:xfrm>
          <a:prstGeom prst="line">
            <a:avLst/>
          </a:prstGeom>
          <a:noFill/>
          <a:ln w="25400">
            <a:solidFill>
              <a:srgbClr val="7FB2FF"/>
            </a:solidFill>
            <a:prstDash val="solid"/>
          </a:ln>
        </p:spPr>
      </p:sp>
      <p:sp>
        <p:nvSpPr>
          <p:cNvPr id="12" name="Text 10"/>
          <p:cNvSpPr/>
          <p:nvPr/>
        </p:nvSpPr>
        <p:spPr>
          <a:xfrm>
            <a:off x="7895167" y="3837939"/>
            <a:ext cx="35885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span, não link</a:t>
            </a:r>
            <a:endParaRPr lang="en-US" sz="1400" dirty="0"/>
          </a:p>
        </p:txBody>
      </p:sp>
      <p:sp>
        <p:nvSpPr>
          <p:cNvPr id="13" name="Text 11"/>
          <p:cNvSpPr/>
          <p:nvPr/>
        </p:nvSpPr>
        <p:spPr>
          <a:xfrm>
            <a:off x="7895167" y="4137661"/>
            <a:ext cx="358855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Usuários e Pedidos não navegam até virarem NavLink.</a:t>
            </a:r>
            <a:endParaRPr lang="en-US" sz="1300" dirty="0"/>
          </a:p>
        </p:txBody>
      </p:sp>
      <p:sp>
        <p:nvSpPr>
          <p:cNvPr id="14"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05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06 · SERVICES/PRODUTOSERVICE.JS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Uma função por verbo HTTP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83" y="1834305"/>
          <a:ext cx="10555817" cy="2143760"/>
        </p:xfrm>
        <a:graphic>
          <a:graphicData uri="http://schemas.openxmlformats.org/drawingml/2006/table">
            <a:tbl>
              <a:tblPr/>
              <a:tblGrid>
                <a:gridCol w="3272303"/>
                <a:gridCol w="2744512"/>
                <a:gridCol w="2005605"/>
                <a:gridCol w="2533396"/>
              </a:tblGrid>
              <a:tr h="357293">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Função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Verbo e URL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Sucesso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Quem chama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listarProdutos()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GET /produtos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resposta.ok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ListaProdutos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buscarProduto(id)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GET /produtos/{id}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resposta.ok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EditarProduto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criarProduto(produto)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POST /produtos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exatamente 201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NovoProduto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atualizarProduto(id, produto)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PUT /produtos/{id}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resposta.ok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EditarProduto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apagarProduto(id)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DELETE /produtos/{id}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resposta.ok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ListaProdutos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4232064"/>
            <a:ext cx="10566400" cy="812800"/>
          </a:xfrm>
          <a:prstGeom prst="roundRect">
            <a:avLst>
              <a:gd name="adj" fmla="val 12500"/>
            </a:avLst>
          </a:prstGeom>
          <a:solidFill>
            <a:srgbClr val="1C2633"/>
          </a:solidFill>
          <a:ln/>
        </p:spPr>
        <p:txBody>
          <a:bodyPr wrap="square" lIns="224242" tIns="148042" rIns="0" bIns="122642" rtlCol="0" anchor="t">
            <a:normAutofit/>
          </a:bodyPr>
          <a:lstStyle/>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const resposta = await </a:t>
            </a:r>
            <a:r>
              <a:rPr lang="en-US" sz="1200" dirty="0">
                <a:solidFill>
                  <a:srgbClr val="F2A65A"/>
                </a:solidFill>
                <a:latin typeface="JetBrains Mono" pitchFamily="49" charset="0"/>
                <a:ea typeface="JetBrains Mono" pitchFamily="49" charset="-122"/>
                <a:cs typeface="JetBrains Mono" pitchFamily="49" charset="-120"/>
              </a:rPr>
              <a:t>fetch</a:t>
            </a:r>
            <a:r>
              <a:rPr lang="en-US" sz="1200" dirty="0">
                <a:solidFill>
                  <a:srgbClr val="E4E9EF"/>
                </a:solidFill>
                <a:latin typeface="JetBrains Mono" pitchFamily="49" charset="0"/>
                <a:ea typeface="JetBrains Mono" pitchFamily="49" charset="-122"/>
                <a:cs typeface="JetBrains Mono" pitchFamily="49" charset="-120"/>
              </a:rPr>
              <a:t>(API_URL + '/' + id, { method: </a:t>
            </a:r>
            <a:r>
              <a:rPr lang="en-US" sz="1200" dirty="0">
                <a:solidFill>
                  <a:srgbClr val="7FB2FF"/>
                </a:solidFill>
                <a:latin typeface="JetBrains Mono" pitchFamily="49" charset="0"/>
                <a:ea typeface="JetBrains Mono" pitchFamily="49" charset="-122"/>
                <a:cs typeface="JetBrains Mono" pitchFamily="49" charset="-120"/>
              </a:rPr>
              <a:t>'DELETE'</a:t>
            </a:r>
            <a:r>
              <a:rPr lang="en-US" sz="1200" dirty="0">
                <a:solidFill>
                  <a:srgbClr val="E4E9EF"/>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if (!resposta.ok) { </a:t>
            </a:r>
            <a:r>
              <a:rPr lang="en-US" sz="1200" dirty="0">
                <a:solidFill>
                  <a:srgbClr val="F2A65A"/>
                </a:solidFill>
                <a:latin typeface="JetBrains Mono" pitchFamily="49" charset="0"/>
                <a:ea typeface="JetBrains Mono" pitchFamily="49" charset="-122"/>
                <a:cs typeface="JetBrains Mono" pitchFamily="49" charset="-120"/>
              </a:rPr>
              <a:t>throw</a:t>
            </a:r>
            <a:r>
              <a:rPr lang="en-US" sz="1200" dirty="0">
                <a:solidFill>
                  <a:srgbClr val="E4E9EF"/>
                </a:solidFill>
                <a:latin typeface="JetBrains Mono" pitchFamily="49" charset="0"/>
                <a:ea typeface="JetBrains Mono" pitchFamily="49" charset="-122"/>
                <a:cs typeface="JetBrains Mono" pitchFamily="49" charset="-120"/>
              </a:rPr>
              <a:t> await lerErro(resposta); }</a:t>
            </a:r>
            <a:endParaRPr lang="en-US" sz="1200" dirty="0"/>
          </a:p>
        </p:txBody>
      </p:sp>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06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07 · PAGES/LISTAPRODUTOS.JSX</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Carregar a lista: efeito → serviço → estado → tela</a:t>
            </a:r>
            <a:endParaRPr lang="en-US" sz="3200" dirty="0"/>
          </a:p>
        </p:txBody>
      </p:sp>
      <p:sp>
        <p:nvSpPr>
          <p:cNvPr id="4" name="Shape 2"/>
          <p:cNvSpPr/>
          <p:nvPr/>
        </p:nvSpPr>
        <p:spPr>
          <a:xfrm>
            <a:off x="815975" y="1877696"/>
            <a:ext cx="2254250" cy="1759373"/>
          </a:xfrm>
          <a:prstGeom prst="roundRect">
            <a:avLst>
              <a:gd name="adj" fmla="val 5594"/>
            </a:avLst>
          </a:prstGeom>
          <a:solidFill>
            <a:srgbClr val="FDFCF9"/>
          </a:solidFill>
          <a:ln w="6350">
            <a:solidFill>
              <a:srgbClr val="DDDAD0"/>
            </a:solidFill>
            <a:prstDash val="solid"/>
          </a:ln>
        </p:spPr>
      </p:sp>
      <p:sp>
        <p:nvSpPr>
          <p:cNvPr id="5" name="Text 3"/>
          <p:cNvSpPr/>
          <p:nvPr/>
        </p:nvSpPr>
        <p:spPr>
          <a:xfrm>
            <a:off x="995892" y="2057611"/>
            <a:ext cx="1951249"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BD6"/>
                </a:solidFill>
                <a:latin typeface="IBM Plex Sans" pitchFamily="34" charset="0"/>
                <a:ea typeface="IBM Plex Sans" pitchFamily="34" charset="-122"/>
                <a:cs typeface="IBM Plex Sans" pitchFamily="34" charset="-120"/>
              </a:rPr>
              <a:t>1</a:t>
            </a:r>
            <a:endParaRPr lang="en-US" sz="2200" dirty="0"/>
          </a:p>
        </p:txBody>
      </p:sp>
      <p:sp>
        <p:nvSpPr>
          <p:cNvPr id="6" name="Text 4"/>
          <p:cNvSpPr/>
          <p:nvPr/>
        </p:nvSpPr>
        <p:spPr>
          <a:xfrm>
            <a:off x="995892" y="2466550"/>
            <a:ext cx="19512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useEffect(…,</a:t>
            </a:r>
            <a:endParaRPr lang="en-US" sz="1200" dirty="0"/>
          </a:p>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[location.key])</a:t>
            </a:r>
            <a:endParaRPr lang="en-US" sz="1200" dirty="0"/>
          </a:p>
        </p:txBody>
      </p:sp>
      <p:sp>
        <p:nvSpPr>
          <p:cNvPr id="7" name="Text 5"/>
          <p:cNvSpPr/>
          <p:nvPr/>
        </p:nvSpPr>
        <p:spPr>
          <a:xfrm>
            <a:off x="995892" y="2994871"/>
            <a:ext cx="195124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Roda toda vez que a página é aberta.</a:t>
            </a:r>
            <a:endParaRPr lang="en-US" sz="1300" dirty="0"/>
          </a:p>
        </p:txBody>
      </p:sp>
      <p:pic>
        <p:nvPicPr>
          <p:cNvPr id="8" name="Image 0" descr="arrow-right">    </p:cNvPr>
          <p:cNvPicPr>
            <a:picLocks noChangeAspect="1"/>
          </p:cNvPicPr>
          <p:nvPr/>
        </p:nvPicPr>
        <p:blipFill>
          <a:blip r:embed="rId1"/>
          <a:srcRect l="0" r="0" t="0" b="0"/>
          <a:stretch/>
        </p:blipFill>
        <p:spPr>
          <a:xfrm>
            <a:off x="3175000" y="2681182"/>
            <a:ext cx="304800" cy="152400"/>
          </a:xfrm>
          <a:prstGeom prst="rect">
            <a:avLst/>
          </a:prstGeom>
        </p:spPr>
      </p:pic>
      <p:sp>
        <p:nvSpPr>
          <p:cNvPr id="9" name="Shape 6"/>
          <p:cNvSpPr/>
          <p:nvPr/>
        </p:nvSpPr>
        <p:spPr>
          <a:xfrm>
            <a:off x="3584575" y="1877696"/>
            <a:ext cx="2254250" cy="1759373"/>
          </a:xfrm>
          <a:prstGeom prst="roundRect">
            <a:avLst>
              <a:gd name="adj" fmla="val 5594"/>
            </a:avLst>
          </a:prstGeom>
          <a:solidFill>
            <a:srgbClr val="FDFCF9"/>
          </a:solidFill>
          <a:ln w="6350">
            <a:solidFill>
              <a:srgbClr val="DDDAD0"/>
            </a:solidFill>
            <a:prstDash val="solid"/>
          </a:ln>
        </p:spPr>
      </p:sp>
      <p:sp>
        <p:nvSpPr>
          <p:cNvPr id="10" name="Text 7"/>
          <p:cNvSpPr/>
          <p:nvPr/>
        </p:nvSpPr>
        <p:spPr>
          <a:xfrm>
            <a:off x="3764492" y="2057611"/>
            <a:ext cx="1951249"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BD6"/>
                </a:solidFill>
                <a:latin typeface="IBM Plex Sans" pitchFamily="34" charset="0"/>
                <a:ea typeface="IBM Plex Sans" pitchFamily="34" charset="-122"/>
                <a:cs typeface="IBM Plex Sans" pitchFamily="34" charset="-120"/>
              </a:rPr>
              <a:t>2</a:t>
            </a:r>
            <a:endParaRPr lang="en-US" sz="2200" dirty="0"/>
          </a:p>
        </p:txBody>
      </p:sp>
      <p:sp>
        <p:nvSpPr>
          <p:cNvPr id="11" name="Text 8"/>
          <p:cNvSpPr/>
          <p:nvPr/>
        </p:nvSpPr>
        <p:spPr>
          <a:xfrm>
            <a:off x="3764492" y="2466550"/>
            <a:ext cx="19512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await</a:t>
            </a:r>
            <a:endParaRPr lang="en-US" sz="1200" dirty="0"/>
          </a:p>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listarProdutos()</a:t>
            </a:r>
            <a:endParaRPr lang="en-US" sz="1200" dirty="0"/>
          </a:p>
        </p:txBody>
      </p:sp>
      <p:sp>
        <p:nvSpPr>
          <p:cNvPr id="12" name="Text 9"/>
          <p:cNvSpPr/>
          <p:nvPr/>
        </p:nvSpPr>
        <p:spPr>
          <a:xfrm>
            <a:off x="3764492" y="2994871"/>
            <a:ext cx="195124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Chama o serviço, que faz o GET.</a:t>
            </a:r>
            <a:endParaRPr lang="en-US" sz="1300" dirty="0"/>
          </a:p>
        </p:txBody>
      </p:sp>
      <p:pic>
        <p:nvPicPr>
          <p:cNvPr id="13" name="Image 1" descr="arrow-right">    </p:cNvPr>
          <p:cNvPicPr>
            <a:picLocks noChangeAspect="1"/>
          </p:cNvPicPr>
          <p:nvPr/>
        </p:nvPicPr>
        <p:blipFill>
          <a:blip r:embed="rId2"/>
          <a:srcRect l="0" r="0" t="0" b="0"/>
          <a:stretch/>
        </p:blipFill>
        <p:spPr>
          <a:xfrm>
            <a:off x="5943600" y="2681182"/>
            <a:ext cx="304800" cy="152400"/>
          </a:xfrm>
          <a:prstGeom prst="rect">
            <a:avLst/>
          </a:prstGeom>
        </p:spPr>
      </p:pic>
      <p:sp>
        <p:nvSpPr>
          <p:cNvPr id="14" name="Shape 10"/>
          <p:cNvSpPr/>
          <p:nvPr/>
        </p:nvSpPr>
        <p:spPr>
          <a:xfrm>
            <a:off x="6353175" y="1877696"/>
            <a:ext cx="2254250" cy="1759373"/>
          </a:xfrm>
          <a:prstGeom prst="roundRect">
            <a:avLst>
              <a:gd name="adj" fmla="val 5594"/>
            </a:avLst>
          </a:prstGeom>
          <a:solidFill>
            <a:srgbClr val="FDFCF9"/>
          </a:solidFill>
          <a:ln w="6350">
            <a:solidFill>
              <a:srgbClr val="DDDAD0"/>
            </a:solidFill>
            <a:prstDash val="solid"/>
          </a:ln>
        </p:spPr>
      </p:sp>
      <p:sp>
        <p:nvSpPr>
          <p:cNvPr id="15" name="Text 11"/>
          <p:cNvSpPr/>
          <p:nvPr/>
        </p:nvSpPr>
        <p:spPr>
          <a:xfrm>
            <a:off x="6533092" y="2057611"/>
            <a:ext cx="1951249"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BD6"/>
                </a:solidFill>
                <a:latin typeface="IBM Plex Sans" pitchFamily="34" charset="0"/>
                <a:ea typeface="IBM Plex Sans" pitchFamily="34" charset="-122"/>
                <a:cs typeface="IBM Plex Sans" pitchFamily="34" charset="-120"/>
              </a:rPr>
              <a:t>3</a:t>
            </a:r>
            <a:endParaRPr lang="en-US" sz="2200" dirty="0"/>
          </a:p>
        </p:txBody>
      </p:sp>
      <p:sp>
        <p:nvSpPr>
          <p:cNvPr id="16" name="Text 12"/>
          <p:cNvSpPr/>
          <p:nvPr/>
        </p:nvSpPr>
        <p:spPr>
          <a:xfrm>
            <a:off x="6533092" y="2466550"/>
            <a:ext cx="19512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setProdutos(lista)</a:t>
            </a:r>
            <a:endParaRPr lang="en-US" sz="1200" dirty="0"/>
          </a:p>
        </p:txBody>
      </p:sp>
      <p:sp>
        <p:nvSpPr>
          <p:cNvPr id="17" name="Text 13"/>
          <p:cNvSpPr/>
          <p:nvPr/>
        </p:nvSpPr>
        <p:spPr>
          <a:xfrm>
            <a:off x="6533092" y="2781511"/>
            <a:ext cx="195124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Muda o estado; o React desenha de novo.</a:t>
            </a:r>
            <a:endParaRPr lang="en-US" sz="1300" dirty="0"/>
          </a:p>
        </p:txBody>
      </p:sp>
      <p:pic>
        <p:nvPicPr>
          <p:cNvPr id="18" name="Image 2" descr="arrow-right">    </p:cNvPr>
          <p:cNvPicPr>
            <a:picLocks noChangeAspect="1"/>
          </p:cNvPicPr>
          <p:nvPr/>
        </p:nvPicPr>
        <p:blipFill>
          <a:blip r:embed="rId3"/>
          <a:srcRect l="0" r="0" t="0" b="0"/>
          <a:stretch/>
        </p:blipFill>
        <p:spPr>
          <a:xfrm>
            <a:off x="8712200" y="2681182"/>
            <a:ext cx="304800" cy="152400"/>
          </a:xfrm>
          <a:prstGeom prst="rect">
            <a:avLst/>
          </a:prstGeom>
        </p:spPr>
      </p:pic>
      <p:sp>
        <p:nvSpPr>
          <p:cNvPr id="19" name="Shape 14"/>
          <p:cNvSpPr/>
          <p:nvPr/>
        </p:nvSpPr>
        <p:spPr>
          <a:xfrm>
            <a:off x="9121775" y="1877696"/>
            <a:ext cx="2254250" cy="1759373"/>
          </a:xfrm>
          <a:prstGeom prst="roundRect">
            <a:avLst>
              <a:gd name="adj" fmla="val 5594"/>
            </a:avLst>
          </a:prstGeom>
          <a:solidFill>
            <a:srgbClr val="FDFCF9"/>
          </a:solidFill>
          <a:ln w="6350">
            <a:solidFill>
              <a:srgbClr val="DDDAD0"/>
            </a:solidFill>
            <a:prstDash val="solid"/>
          </a:ln>
        </p:spPr>
      </p:sp>
      <p:sp>
        <p:nvSpPr>
          <p:cNvPr id="20" name="Text 15"/>
          <p:cNvSpPr/>
          <p:nvPr/>
        </p:nvSpPr>
        <p:spPr>
          <a:xfrm>
            <a:off x="9301692" y="2057611"/>
            <a:ext cx="1951249"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BD6"/>
                </a:solidFill>
                <a:latin typeface="IBM Plex Sans" pitchFamily="34" charset="0"/>
                <a:ea typeface="IBM Plex Sans" pitchFamily="34" charset="-122"/>
                <a:cs typeface="IBM Plex Sans" pitchFamily="34" charset="-120"/>
              </a:rPr>
              <a:t>4</a:t>
            </a:r>
            <a:endParaRPr lang="en-US" sz="2200" dirty="0"/>
          </a:p>
        </p:txBody>
      </p:sp>
      <p:sp>
        <p:nvSpPr>
          <p:cNvPr id="21" name="Text 16"/>
          <p:cNvSpPr/>
          <p:nvPr/>
        </p:nvSpPr>
        <p:spPr>
          <a:xfrm>
            <a:off x="9301692" y="2466550"/>
            <a:ext cx="19512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produtos.map(…)</a:t>
            </a:r>
            <a:endParaRPr lang="en-US" sz="1200" dirty="0"/>
          </a:p>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 &lt;tr&gt;</a:t>
            </a:r>
            <a:endParaRPr lang="en-US" sz="1200" dirty="0"/>
          </a:p>
        </p:txBody>
      </p:sp>
      <p:sp>
        <p:nvSpPr>
          <p:cNvPr id="22" name="Text 17"/>
          <p:cNvSpPr/>
          <p:nvPr/>
        </p:nvSpPr>
        <p:spPr>
          <a:xfrm>
            <a:off x="9301692" y="2994871"/>
            <a:ext cx="195124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Uma linha da tabela zebrada por produto.</a:t>
            </a:r>
            <a:endParaRPr lang="en-US" sz="1300" dirty="0"/>
          </a:p>
        </p:txBody>
      </p:sp>
      <p:sp>
        <p:nvSpPr>
          <p:cNvPr id="23" name="Shape 18"/>
          <p:cNvSpPr/>
          <p:nvPr/>
        </p:nvSpPr>
        <p:spPr>
          <a:xfrm>
            <a:off x="825500" y="3945043"/>
            <a:ext cx="0" cy="778510"/>
          </a:xfrm>
          <a:prstGeom prst="line">
            <a:avLst/>
          </a:prstGeom>
          <a:noFill/>
          <a:ln w="25400">
            <a:solidFill>
              <a:srgbClr val="D9792B"/>
            </a:solidFill>
            <a:prstDash val="solid"/>
          </a:ln>
        </p:spPr>
      </p:sp>
      <p:sp>
        <p:nvSpPr>
          <p:cNvPr id="24" name="Text 19"/>
          <p:cNvSpPr/>
          <p:nvPr/>
        </p:nvSpPr>
        <p:spPr>
          <a:xfrm>
            <a:off x="986367" y="3945043"/>
            <a:ext cx="1070461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Por que location.key?</a:t>
            </a:r>
            <a:endParaRPr lang="en-US" sz="1400" dirty="0"/>
          </a:p>
        </p:txBody>
      </p:sp>
      <p:sp>
        <p:nvSpPr>
          <p:cNvPr id="25" name="Text 20"/>
          <p:cNvSpPr/>
          <p:nvPr/>
        </p:nvSpPr>
        <p:spPr>
          <a:xfrm>
            <a:off x="986367" y="4244764"/>
            <a:ext cx="981075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Ele muda a cada navegação — inclusive quando se volta para /produtos vindo de Novo ou Editar. Assim a lista é sempre buscada de novo na API, nunca reaproveitada.</a:t>
            </a:r>
            <a:endParaRPr lang="en-US" sz="1300" dirty="0"/>
          </a:p>
        </p:txBody>
      </p:sp>
      <p:sp>
        <p:nvSpPr>
          <p:cNvPr id="26"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07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08 · PAGES/LISTAPRODUTOS.JSX</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Apagar: um estado decide se o modal existe</a:t>
            </a:r>
            <a:endParaRPr lang="en-US" sz="3200" dirty="0"/>
          </a:p>
        </p:txBody>
      </p:sp>
      <p:sp>
        <p:nvSpPr>
          <p:cNvPr id="4" name="Text 2"/>
          <p:cNvSpPr/>
          <p:nvPr/>
        </p:nvSpPr>
        <p:spPr>
          <a:xfrm>
            <a:off x="812800" y="1874521"/>
            <a:ext cx="5842000" cy="2692400"/>
          </a:xfrm>
          <a:prstGeom prst="roundRect">
            <a:avLst>
              <a:gd name="adj" fmla="val 3774"/>
            </a:avLst>
          </a:prstGeom>
          <a:solidFill>
            <a:srgbClr val="1C2633"/>
          </a:solidFill>
          <a:ln/>
        </p:spPr>
        <p:txBody>
          <a:bodyPr wrap="square" lIns="224242" tIns="173442" rIns="64222" bIns="148042" rtlCol="0" anchor="t">
            <a:normAutofit/>
          </a:bodyPr>
          <a:lstStyle/>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a:t>
            </a:r>
            <a:r>
              <a:rPr lang="en-US" sz="1200" dirty="0">
                <a:solidFill>
                  <a:srgbClr val="F2A65A"/>
                </a:solidFill>
                <a:latin typeface="JetBrains Mono" pitchFamily="49" charset="0"/>
                <a:ea typeface="JetBrains Mono" pitchFamily="49" charset="-122"/>
                <a:cs typeface="JetBrains Mono" pitchFamily="49" charset="-120"/>
              </a:rPr>
              <a:t>produtoParaApagar</a:t>
            </a:r>
            <a:r>
              <a:rPr lang="en-US" sz="1200" dirty="0">
                <a:solidFill>
                  <a:srgbClr val="E4E9EF"/>
                </a:solidFill>
                <a:latin typeface="JetBrains Mono" pitchFamily="49" charset="0"/>
                <a:ea typeface="JetBrains Mono" pitchFamily="49" charset="-122"/>
                <a:cs typeface="JetBrains Mono" pitchFamily="49" charset="-120"/>
              </a:rPr>
              <a:t> &amp;&amp;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&lt;Modal mensagem={'Deseja realmente apagar o produto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 produtoParaApagar.id + ' -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 produtoParaApagar.nome + '?'}&gt;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&lt;button onClick={</a:t>
            </a:r>
            <a:r>
              <a:rPr lang="en-US" sz="1200" dirty="0">
                <a:solidFill>
                  <a:srgbClr val="7FB2FF"/>
                </a:solidFill>
                <a:latin typeface="JetBrains Mono" pitchFamily="49" charset="0"/>
                <a:ea typeface="JetBrains Mono" pitchFamily="49" charset="-122"/>
                <a:cs typeface="JetBrains Mono" pitchFamily="49" charset="-120"/>
              </a:rPr>
              <a:t>cancelarApagar</a:t>
            </a:r>
            <a:r>
              <a:rPr lang="en-US" sz="1200" dirty="0">
                <a:solidFill>
                  <a:srgbClr val="E4E9EF"/>
                </a:solidFill>
                <a:latin typeface="JetBrains Mono" pitchFamily="49" charset="0"/>
                <a:ea typeface="JetBrains Mono" pitchFamily="49" charset="-122"/>
                <a:cs typeface="JetBrains Mono" pitchFamily="49" charset="-120"/>
              </a:rPr>
              <a:t>}&gt;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Cancelar&lt;/button&gt;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&lt;button onClick={</a:t>
            </a:r>
            <a:r>
              <a:rPr lang="en-US" sz="1200" dirty="0">
                <a:solidFill>
                  <a:srgbClr val="7FB2FF"/>
                </a:solidFill>
                <a:latin typeface="JetBrains Mono" pitchFamily="49" charset="0"/>
                <a:ea typeface="JetBrains Mono" pitchFamily="49" charset="-122"/>
                <a:cs typeface="JetBrains Mono" pitchFamily="49" charset="-120"/>
              </a:rPr>
              <a:t>confirmarApagar</a:t>
            </a:r>
            <a:r>
              <a:rPr lang="en-US" sz="1200" dirty="0">
                <a:solidFill>
                  <a:srgbClr val="E4E9EF"/>
                </a:solidFill>
                <a:latin typeface="JetBrains Mono" pitchFamily="49" charset="0"/>
                <a:ea typeface="JetBrains Mono" pitchFamily="49" charset="-122"/>
                <a:cs typeface="JetBrains Mono" pitchFamily="49" charset="-120"/>
              </a:rPr>
              <a:t>}&gt;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Apagar&lt;/button&gt;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&lt;/Modal&gt;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a:t>
            </a:r>
            <a:endParaRPr lang="en-US" sz="1200" dirty="0"/>
          </a:p>
        </p:txBody>
      </p:sp>
      <p:sp>
        <p:nvSpPr>
          <p:cNvPr id="5" name="Shape 3"/>
          <p:cNvSpPr/>
          <p:nvPr/>
        </p:nvSpPr>
        <p:spPr>
          <a:xfrm>
            <a:off x="6972300" y="1874521"/>
            <a:ext cx="0" cy="778510"/>
          </a:xfrm>
          <a:prstGeom prst="line">
            <a:avLst/>
          </a:prstGeom>
          <a:noFill/>
          <a:ln w="25400">
            <a:solidFill>
              <a:srgbClr val="D9792B"/>
            </a:solidFill>
            <a:prstDash val="solid"/>
          </a:ln>
        </p:spPr>
      </p:sp>
      <p:sp>
        <p:nvSpPr>
          <p:cNvPr id="6" name="Text 4"/>
          <p:cNvSpPr/>
          <p:nvPr/>
        </p:nvSpPr>
        <p:spPr>
          <a:xfrm>
            <a:off x="7133167" y="1874521"/>
            <a:ext cx="437341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1 · Clique no X</a:t>
            </a:r>
            <a:endParaRPr lang="en-US" sz="1400" dirty="0"/>
          </a:p>
        </p:txBody>
      </p:sp>
      <p:sp>
        <p:nvSpPr>
          <p:cNvPr id="7" name="Text 5"/>
          <p:cNvSpPr/>
          <p:nvPr/>
        </p:nvSpPr>
        <p:spPr>
          <a:xfrm>
            <a:off x="7133167" y="2174242"/>
            <a:ext cx="437341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setProdutoParaApagar(produto): o estado deixa de ser null e o &amp;&amp; renderiza o Modal.</a:t>
            </a:r>
            <a:endParaRPr lang="en-US" sz="1300" dirty="0"/>
          </a:p>
        </p:txBody>
      </p:sp>
      <p:sp>
        <p:nvSpPr>
          <p:cNvPr id="8" name="Shape 6"/>
          <p:cNvSpPr/>
          <p:nvPr/>
        </p:nvSpPr>
        <p:spPr>
          <a:xfrm>
            <a:off x="6972300" y="2856229"/>
            <a:ext cx="0" cy="778510"/>
          </a:xfrm>
          <a:prstGeom prst="line">
            <a:avLst/>
          </a:prstGeom>
          <a:noFill/>
          <a:ln w="25400">
            <a:solidFill>
              <a:srgbClr val="D9792B"/>
            </a:solidFill>
            <a:prstDash val="solid"/>
          </a:ln>
        </p:spPr>
      </p:sp>
      <p:sp>
        <p:nvSpPr>
          <p:cNvPr id="9" name="Text 7"/>
          <p:cNvSpPr/>
          <p:nvPr/>
        </p:nvSpPr>
        <p:spPr>
          <a:xfrm>
            <a:off x="7133167" y="2856229"/>
            <a:ext cx="437341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2 · Apagar</a:t>
            </a:r>
            <a:endParaRPr lang="en-US" sz="1400" dirty="0"/>
          </a:p>
        </p:txBody>
      </p:sp>
      <p:sp>
        <p:nvSpPr>
          <p:cNvPr id="10" name="Text 8"/>
          <p:cNvSpPr/>
          <p:nvPr/>
        </p:nvSpPr>
        <p:spPr>
          <a:xfrm>
            <a:off x="7133167" y="3155950"/>
            <a:ext cx="4373414"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apagarProduto(id) faz o DELETE; depois carregarProdutos() e setMensagemSucesso(…).</a:t>
            </a:r>
            <a:endParaRPr lang="en-US" sz="1300" dirty="0"/>
          </a:p>
        </p:txBody>
      </p:sp>
      <p:sp>
        <p:nvSpPr>
          <p:cNvPr id="11" name="Shape 9"/>
          <p:cNvSpPr/>
          <p:nvPr/>
        </p:nvSpPr>
        <p:spPr>
          <a:xfrm>
            <a:off x="6972300" y="3837942"/>
            <a:ext cx="0" cy="539115"/>
          </a:xfrm>
          <a:prstGeom prst="line">
            <a:avLst/>
          </a:prstGeom>
          <a:noFill/>
          <a:ln w="25400">
            <a:solidFill>
              <a:srgbClr val="7FB2FF"/>
            </a:solidFill>
            <a:prstDash val="solid"/>
          </a:ln>
        </p:spPr>
      </p:sp>
      <p:sp>
        <p:nvSpPr>
          <p:cNvPr id="12" name="Text 10"/>
          <p:cNvSpPr/>
          <p:nvPr/>
        </p:nvSpPr>
        <p:spPr>
          <a:xfrm>
            <a:off x="7133167" y="3837942"/>
            <a:ext cx="437341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Cancelar</a:t>
            </a:r>
            <a:endParaRPr lang="en-US" sz="1400" dirty="0"/>
          </a:p>
        </p:txBody>
      </p:sp>
      <p:sp>
        <p:nvSpPr>
          <p:cNvPr id="13" name="Text 11"/>
          <p:cNvSpPr/>
          <p:nvPr/>
        </p:nvSpPr>
        <p:spPr>
          <a:xfrm>
            <a:off x="7133167" y="4137658"/>
            <a:ext cx="4373414"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Volta o estado para null e recarrega a lista.</a:t>
            </a:r>
            <a:endParaRPr lang="en-US" sz="13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08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09 · COMPONENTS/MODAL.JSX</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Um Modal, vários usos: props e children</a:t>
            </a:r>
            <a:endParaRPr lang="en-US" sz="3200" dirty="0"/>
          </a:p>
        </p:txBody>
      </p:sp>
      <p:sp>
        <p:nvSpPr>
          <p:cNvPr id="4" name="Text 2"/>
          <p:cNvSpPr/>
          <p:nvPr/>
        </p:nvSpPr>
        <p:spPr>
          <a:xfrm>
            <a:off x="812800" y="1874521"/>
            <a:ext cx="5842000" cy="3378200"/>
          </a:xfrm>
          <a:prstGeom prst="roundRect">
            <a:avLst>
              <a:gd name="adj" fmla="val 3008"/>
            </a:avLst>
          </a:prstGeom>
          <a:solidFill>
            <a:srgbClr val="1C2633"/>
          </a:solidFill>
          <a:ln/>
        </p:spPr>
        <p:txBody>
          <a:bodyPr wrap="square" lIns="224242" tIns="173442" rIns="64222" bIns="148042" rtlCol="0" anchor="t">
            <a:normAutofit/>
          </a:bodyPr>
          <a:lstStyle/>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export default function Modal(</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 </a:t>
            </a:r>
            <a:r>
              <a:rPr lang="en-US" sz="1200" dirty="0">
                <a:solidFill>
                  <a:srgbClr val="F2A65A"/>
                </a:solidFill>
                <a:latin typeface="JetBrains Mono" pitchFamily="49" charset="0"/>
                <a:ea typeface="JetBrains Mono" pitchFamily="49" charset="-122"/>
                <a:cs typeface="JetBrains Mono" pitchFamily="49" charset="-120"/>
              </a:rPr>
              <a:t>mensagem</a:t>
            </a:r>
            <a:r>
              <a:rPr lang="en-US" sz="1200" dirty="0">
                <a:solidFill>
                  <a:srgbClr val="E4E9EF"/>
                </a:solidFill>
                <a:latin typeface="JetBrains Mono" pitchFamily="49" charset="0"/>
                <a:ea typeface="JetBrains Mono" pitchFamily="49" charset="-122"/>
                <a:cs typeface="JetBrains Mono" pitchFamily="49" charset="-120"/>
              </a:rPr>
              <a:t>, </a:t>
            </a:r>
            <a:r>
              <a:rPr lang="en-US" sz="1200" dirty="0">
                <a:solidFill>
                  <a:srgbClr val="7FB2FF"/>
                </a:solidFill>
                <a:latin typeface="JetBrains Mono" pitchFamily="49" charset="0"/>
                <a:ea typeface="JetBrains Mono" pitchFamily="49" charset="-122"/>
                <a:cs typeface="JetBrains Mono" pitchFamily="49" charset="-120"/>
              </a:rPr>
              <a:t>children</a:t>
            </a:r>
            <a:r>
              <a:rPr lang="en-US" sz="1200" dirty="0">
                <a:solidFill>
                  <a:srgbClr val="E4E9EF"/>
                </a:solidFill>
                <a:latin typeface="JetBrains Mono" pitchFamily="49" charset="0"/>
                <a:ea typeface="JetBrains Mono" pitchFamily="49" charset="-122"/>
                <a:cs typeface="JetBrains Mono" pitchFamily="49" charset="-120"/>
              </a:rPr>
              <a:t> })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return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&lt;div className="modal-fundo"&gt;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&lt;div className="modal-caixa"&gt;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&lt;p&gt;{</a:t>
            </a:r>
            <a:r>
              <a:rPr lang="en-US" sz="1200" dirty="0">
                <a:solidFill>
                  <a:srgbClr val="F2A65A"/>
                </a:solidFill>
                <a:latin typeface="JetBrains Mono" pitchFamily="49" charset="0"/>
                <a:ea typeface="JetBrains Mono" pitchFamily="49" charset="-122"/>
                <a:cs typeface="JetBrains Mono" pitchFamily="49" charset="-120"/>
              </a:rPr>
              <a:t>mensagem</a:t>
            </a:r>
            <a:r>
              <a:rPr lang="en-US" sz="1200" dirty="0">
                <a:solidFill>
                  <a:srgbClr val="E4E9EF"/>
                </a:solidFill>
                <a:latin typeface="JetBrains Mono" pitchFamily="49" charset="0"/>
                <a:ea typeface="JetBrains Mono" pitchFamily="49" charset="-122"/>
                <a:cs typeface="JetBrains Mono" pitchFamily="49" charset="-120"/>
              </a:rPr>
              <a:t>}&lt;/p&gt;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&lt;div className="modal-botoes"&gt;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a:t>
            </a:r>
            <a:r>
              <a:rPr lang="en-US" sz="1200" dirty="0">
                <a:solidFill>
                  <a:srgbClr val="7FB2FF"/>
                </a:solidFill>
                <a:latin typeface="JetBrains Mono" pitchFamily="49" charset="0"/>
                <a:ea typeface="JetBrains Mono" pitchFamily="49" charset="-122"/>
                <a:cs typeface="JetBrains Mono" pitchFamily="49" charset="-120"/>
              </a:rPr>
              <a:t>children</a:t>
            </a:r>
            <a:r>
              <a:rPr lang="en-US" sz="1200" dirty="0">
                <a:solidFill>
                  <a:srgbClr val="E4E9EF"/>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&lt;/div&gt;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&lt;/div&gt;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&lt;/div&gt;</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a:t>
            </a:r>
            <a:endParaRPr lang="en-US" sz="1200" dirty="0"/>
          </a:p>
        </p:txBody>
      </p:sp>
      <p:sp>
        <p:nvSpPr>
          <p:cNvPr id="5" name="Shape 3"/>
          <p:cNvSpPr/>
          <p:nvPr/>
        </p:nvSpPr>
        <p:spPr>
          <a:xfrm>
            <a:off x="6962775" y="1877696"/>
            <a:ext cx="4413250" cy="1022773"/>
          </a:xfrm>
          <a:prstGeom prst="roundRect">
            <a:avLst>
              <a:gd name="adj" fmla="val 9623"/>
            </a:avLst>
          </a:prstGeom>
          <a:solidFill>
            <a:srgbClr val="FDFCF9"/>
          </a:solidFill>
          <a:ln w="6350">
            <a:solidFill>
              <a:srgbClr val="DDDAD0"/>
            </a:solidFill>
            <a:prstDash val="solid"/>
          </a:ln>
        </p:spPr>
      </p:sp>
      <p:sp>
        <p:nvSpPr>
          <p:cNvPr id="6" name="Text 4"/>
          <p:cNvSpPr/>
          <p:nvPr/>
        </p:nvSpPr>
        <p:spPr>
          <a:xfrm>
            <a:off x="7142692" y="2032211"/>
            <a:ext cx="417501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Confirmar exclusão</a:t>
            </a:r>
            <a:endParaRPr lang="en-US" sz="1400" dirty="0"/>
          </a:p>
        </p:txBody>
      </p:sp>
      <p:sp>
        <p:nvSpPr>
          <p:cNvPr id="7" name="Text 5"/>
          <p:cNvSpPr/>
          <p:nvPr/>
        </p:nvSpPr>
        <p:spPr>
          <a:xfrm>
            <a:off x="7142692" y="2319232"/>
            <a:ext cx="41750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mensagem: “Deseja realmente apagar…”</a:t>
            </a:r>
            <a:endParaRPr lang="en-US" sz="1200" dirty="0"/>
          </a:p>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children: Cancelar + Apagar</a:t>
            </a:r>
            <a:endParaRPr lang="en-US" sz="1200" dirty="0"/>
          </a:p>
        </p:txBody>
      </p:sp>
      <p:sp>
        <p:nvSpPr>
          <p:cNvPr id="8" name="Shape 6"/>
          <p:cNvSpPr/>
          <p:nvPr/>
        </p:nvSpPr>
        <p:spPr>
          <a:xfrm>
            <a:off x="6962775" y="3059218"/>
            <a:ext cx="4413250" cy="1022773"/>
          </a:xfrm>
          <a:prstGeom prst="roundRect">
            <a:avLst>
              <a:gd name="adj" fmla="val 9623"/>
            </a:avLst>
          </a:prstGeom>
          <a:solidFill>
            <a:srgbClr val="FDFCF9"/>
          </a:solidFill>
          <a:ln w="6350">
            <a:solidFill>
              <a:srgbClr val="DDDAD0"/>
            </a:solidFill>
            <a:prstDash val="solid"/>
          </a:ln>
        </p:spPr>
      </p:sp>
      <p:sp>
        <p:nvSpPr>
          <p:cNvPr id="9" name="Text 7"/>
          <p:cNvSpPr/>
          <p:nvPr/>
        </p:nvSpPr>
        <p:spPr>
          <a:xfrm>
            <a:off x="7142692" y="3213733"/>
            <a:ext cx="417501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Sucesso</a:t>
            </a:r>
            <a:endParaRPr lang="en-US" sz="1400" dirty="0"/>
          </a:p>
        </p:txBody>
      </p:sp>
      <p:sp>
        <p:nvSpPr>
          <p:cNvPr id="10" name="Text 8"/>
          <p:cNvSpPr/>
          <p:nvPr/>
        </p:nvSpPr>
        <p:spPr>
          <a:xfrm>
            <a:off x="7142692" y="3500754"/>
            <a:ext cx="41750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mensagem: criado, atualizado ou apagado</a:t>
            </a:r>
            <a:endParaRPr lang="en-US" sz="1200" dirty="0"/>
          </a:p>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children: OK</a:t>
            </a:r>
            <a:endParaRPr lang="en-US" sz="1200" dirty="0"/>
          </a:p>
        </p:txBody>
      </p:sp>
      <p:sp>
        <p:nvSpPr>
          <p:cNvPr id="11" name="Text 9"/>
          <p:cNvSpPr/>
          <p:nvPr/>
        </p:nvSpPr>
        <p:spPr>
          <a:xfrm>
            <a:off x="6959600" y="4237565"/>
            <a:ext cx="455218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E6BD6"/>
                </a:solidFill>
                <a:latin typeface="IBM Plex Sans" pitchFamily="34" charset="0"/>
                <a:ea typeface="IBM Plex Sans" pitchFamily="34" charset="-122"/>
                <a:cs typeface="IBM Plex Sans" pitchFamily="34" charset="-120"/>
              </a:rPr>
              <a:t>O Modal não sabe o que os botões fazem. Quem decide é a página.</a:t>
            </a:r>
            <a:endParaRPr lang="en-US" sz="1500" dirty="0"/>
          </a:p>
        </p:txBody>
      </p:sp>
      <p:sp>
        <p:nvSpPr>
          <p:cNvPr id="12"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09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10 · PAGES/NOVOPRODUTO.JSX</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Formulário controlado: input → estado → JSON</a:t>
            </a:r>
            <a:endParaRPr lang="en-US" sz="3200" dirty="0"/>
          </a:p>
        </p:txBody>
      </p:sp>
      <p:sp>
        <p:nvSpPr>
          <p:cNvPr id="4" name="Shape 2"/>
          <p:cNvSpPr/>
          <p:nvPr/>
        </p:nvSpPr>
        <p:spPr>
          <a:xfrm>
            <a:off x="815975" y="1877696"/>
            <a:ext cx="2254250" cy="1759373"/>
          </a:xfrm>
          <a:prstGeom prst="roundRect">
            <a:avLst>
              <a:gd name="adj" fmla="val 5594"/>
            </a:avLst>
          </a:prstGeom>
          <a:solidFill>
            <a:srgbClr val="FDFCF9"/>
          </a:solidFill>
          <a:ln w="6350">
            <a:solidFill>
              <a:srgbClr val="DDDAD0"/>
            </a:solidFill>
            <a:prstDash val="solid"/>
          </a:ln>
        </p:spPr>
      </p:sp>
      <p:sp>
        <p:nvSpPr>
          <p:cNvPr id="5" name="Text 3"/>
          <p:cNvSpPr/>
          <p:nvPr/>
        </p:nvSpPr>
        <p:spPr>
          <a:xfrm>
            <a:off x="995892" y="2057611"/>
            <a:ext cx="1951249"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BD6"/>
                </a:solidFill>
                <a:latin typeface="IBM Plex Sans" pitchFamily="34" charset="0"/>
                <a:ea typeface="IBM Plex Sans" pitchFamily="34" charset="-122"/>
                <a:cs typeface="IBM Plex Sans" pitchFamily="34" charset="-120"/>
              </a:rPr>
              <a:t>1</a:t>
            </a:r>
            <a:endParaRPr lang="en-US" sz="2200" dirty="0"/>
          </a:p>
        </p:txBody>
      </p:sp>
      <p:sp>
        <p:nvSpPr>
          <p:cNvPr id="6" name="Text 4"/>
          <p:cNvSpPr/>
          <p:nvPr/>
        </p:nvSpPr>
        <p:spPr>
          <a:xfrm>
            <a:off x="995892" y="2466553"/>
            <a:ext cx="19512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value={nome}</a:t>
            </a:r>
            <a:endParaRPr lang="en-US" sz="1200" dirty="0"/>
          </a:p>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onChange → setNome</a:t>
            </a:r>
            <a:endParaRPr lang="en-US" sz="1200" dirty="0"/>
          </a:p>
        </p:txBody>
      </p:sp>
      <p:sp>
        <p:nvSpPr>
          <p:cNvPr id="7" name="Text 5"/>
          <p:cNvSpPr/>
          <p:nvPr/>
        </p:nvSpPr>
        <p:spPr>
          <a:xfrm>
            <a:off x="995892" y="2994875"/>
            <a:ext cx="195124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Cada tecla atualiza o estado.</a:t>
            </a:r>
            <a:endParaRPr lang="en-US" sz="1300" dirty="0"/>
          </a:p>
        </p:txBody>
      </p:sp>
      <p:pic>
        <p:nvPicPr>
          <p:cNvPr id="8" name="Image 0" descr="arrow-right">    </p:cNvPr>
          <p:cNvPicPr>
            <a:picLocks noChangeAspect="1"/>
          </p:cNvPicPr>
          <p:nvPr/>
        </p:nvPicPr>
        <p:blipFill>
          <a:blip r:embed="rId1"/>
          <a:srcRect l="0" r="0" t="0" b="0"/>
          <a:stretch/>
        </p:blipFill>
        <p:spPr>
          <a:xfrm>
            <a:off x="3175000" y="2681182"/>
            <a:ext cx="304800" cy="152400"/>
          </a:xfrm>
          <a:prstGeom prst="rect">
            <a:avLst/>
          </a:prstGeom>
        </p:spPr>
      </p:pic>
      <p:sp>
        <p:nvSpPr>
          <p:cNvPr id="9" name="Shape 6"/>
          <p:cNvSpPr/>
          <p:nvPr/>
        </p:nvSpPr>
        <p:spPr>
          <a:xfrm>
            <a:off x="3584575" y="1877696"/>
            <a:ext cx="2254250" cy="1759373"/>
          </a:xfrm>
          <a:prstGeom prst="roundRect">
            <a:avLst>
              <a:gd name="adj" fmla="val 5594"/>
            </a:avLst>
          </a:prstGeom>
          <a:solidFill>
            <a:srgbClr val="FDFCF9"/>
          </a:solidFill>
          <a:ln w="6350">
            <a:solidFill>
              <a:srgbClr val="DDDAD0"/>
            </a:solidFill>
            <a:prstDash val="solid"/>
          </a:ln>
        </p:spPr>
      </p:sp>
      <p:sp>
        <p:nvSpPr>
          <p:cNvPr id="10" name="Text 7"/>
          <p:cNvSpPr/>
          <p:nvPr/>
        </p:nvSpPr>
        <p:spPr>
          <a:xfrm>
            <a:off x="3764492" y="2057611"/>
            <a:ext cx="1951249"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BD6"/>
                </a:solidFill>
                <a:latin typeface="IBM Plex Sans" pitchFamily="34" charset="0"/>
                <a:ea typeface="IBM Plex Sans" pitchFamily="34" charset="-122"/>
                <a:cs typeface="IBM Plex Sans" pitchFamily="34" charset="-120"/>
              </a:rPr>
              <a:t>2</a:t>
            </a:r>
            <a:endParaRPr lang="en-US" sz="2200" dirty="0"/>
          </a:p>
        </p:txBody>
      </p:sp>
      <p:sp>
        <p:nvSpPr>
          <p:cNvPr id="11" name="Text 8"/>
          <p:cNvSpPr/>
          <p:nvPr/>
        </p:nvSpPr>
        <p:spPr>
          <a:xfrm>
            <a:off x="3764492" y="2466553"/>
            <a:ext cx="19512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 nome, descricao,</a:t>
            </a:r>
            <a:endParaRPr lang="en-US" sz="1200" dirty="0"/>
          </a:p>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preco: Number(…) }</a:t>
            </a:r>
            <a:endParaRPr lang="en-US" sz="1200" dirty="0"/>
          </a:p>
        </p:txBody>
      </p:sp>
      <p:sp>
        <p:nvSpPr>
          <p:cNvPr id="12" name="Text 9"/>
          <p:cNvSpPr/>
          <p:nvPr/>
        </p:nvSpPr>
        <p:spPr>
          <a:xfrm>
            <a:off x="3764492" y="2994875"/>
            <a:ext cx="195124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Salvar monta o objeto a partir dos estados.</a:t>
            </a:r>
            <a:endParaRPr lang="en-US" sz="1300" dirty="0"/>
          </a:p>
        </p:txBody>
      </p:sp>
      <p:pic>
        <p:nvPicPr>
          <p:cNvPr id="13" name="Image 1" descr="arrow-right">    </p:cNvPr>
          <p:cNvPicPr>
            <a:picLocks noChangeAspect="1"/>
          </p:cNvPicPr>
          <p:nvPr/>
        </p:nvPicPr>
        <p:blipFill>
          <a:blip r:embed="rId2"/>
          <a:srcRect l="0" r="0" t="0" b="0"/>
          <a:stretch/>
        </p:blipFill>
        <p:spPr>
          <a:xfrm>
            <a:off x="5943600" y="2681182"/>
            <a:ext cx="304800" cy="152400"/>
          </a:xfrm>
          <a:prstGeom prst="rect">
            <a:avLst/>
          </a:prstGeom>
        </p:spPr>
      </p:pic>
      <p:sp>
        <p:nvSpPr>
          <p:cNvPr id="14" name="Shape 10"/>
          <p:cNvSpPr/>
          <p:nvPr/>
        </p:nvSpPr>
        <p:spPr>
          <a:xfrm>
            <a:off x="6353175" y="1877696"/>
            <a:ext cx="2254250" cy="1759373"/>
          </a:xfrm>
          <a:prstGeom prst="roundRect">
            <a:avLst>
              <a:gd name="adj" fmla="val 5594"/>
            </a:avLst>
          </a:prstGeom>
          <a:solidFill>
            <a:srgbClr val="FDFCF9"/>
          </a:solidFill>
          <a:ln w="6350">
            <a:solidFill>
              <a:srgbClr val="DDDAD0"/>
            </a:solidFill>
            <a:prstDash val="solid"/>
          </a:ln>
        </p:spPr>
      </p:sp>
      <p:sp>
        <p:nvSpPr>
          <p:cNvPr id="15" name="Text 11"/>
          <p:cNvSpPr/>
          <p:nvPr/>
        </p:nvSpPr>
        <p:spPr>
          <a:xfrm>
            <a:off x="6533092" y="2057611"/>
            <a:ext cx="1951249"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BD6"/>
                </a:solidFill>
                <a:latin typeface="IBM Plex Sans" pitchFamily="34" charset="0"/>
                <a:ea typeface="IBM Plex Sans" pitchFamily="34" charset="-122"/>
                <a:cs typeface="IBM Plex Sans" pitchFamily="34" charset="-120"/>
              </a:rPr>
              <a:t>3</a:t>
            </a:r>
            <a:endParaRPr lang="en-US" sz="2200" dirty="0"/>
          </a:p>
        </p:txBody>
      </p:sp>
      <p:sp>
        <p:nvSpPr>
          <p:cNvPr id="16" name="Text 12"/>
          <p:cNvSpPr/>
          <p:nvPr/>
        </p:nvSpPr>
        <p:spPr>
          <a:xfrm>
            <a:off x="6533092" y="2466553"/>
            <a:ext cx="19512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criarProduto(</a:t>
            </a:r>
            <a:endParaRPr lang="en-US" sz="1200" dirty="0"/>
          </a:p>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produto)</a:t>
            </a:r>
            <a:endParaRPr lang="en-US" sz="1200" dirty="0"/>
          </a:p>
        </p:txBody>
      </p:sp>
      <p:sp>
        <p:nvSpPr>
          <p:cNvPr id="17" name="Text 13"/>
          <p:cNvSpPr/>
          <p:nvPr/>
        </p:nvSpPr>
        <p:spPr>
          <a:xfrm>
            <a:off x="6533092" y="2994875"/>
            <a:ext cx="195124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O serviço envia o POST e exige 201.</a:t>
            </a:r>
            <a:endParaRPr lang="en-US" sz="1300" dirty="0"/>
          </a:p>
        </p:txBody>
      </p:sp>
      <p:pic>
        <p:nvPicPr>
          <p:cNvPr id="18" name="Image 2" descr="arrow-right">    </p:cNvPr>
          <p:cNvPicPr>
            <a:picLocks noChangeAspect="1"/>
          </p:cNvPicPr>
          <p:nvPr/>
        </p:nvPicPr>
        <p:blipFill>
          <a:blip r:embed="rId3"/>
          <a:srcRect l="0" r="0" t="0" b="0"/>
          <a:stretch/>
        </p:blipFill>
        <p:spPr>
          <a:xfrm>
            <a:off x="8712200" y="2681182"/>
            <a:ext cx="304800" cy="152400"/>
          </a:xfrm>
          <a:prstGeom prst="rect">
            <a:avLst/>
          </a:prstGeom>
        </p:spPr>
      </p:pic>
      <p:sp>
        <p:nvSpPr>
          <p:cNvPr id="19" name="Shape 14"/>
          <p:cNvSpPr/>
          <p:nvPr/>
        </p:nvSpPr>
        <p:spPr>
          <a:xfrm>
            <a:off x="9121775" y="1877696"/>
            <a:ext cx="2254250" cy="1759373"/>
          </a:xfrm>
          <a:prstGeom prst="roundRect">
            <a:avLst>
              <a:gd name="adj" fmla="val 5594"/>
            </a:avLst>
          </a:prstGeom>
          <a:solidFill>
            <a:srgbClr val="FDFCF9"/>
          </a:solidFill>
          <a:ln w="6350">
            <a:solidFill>
              <a:srgbClr val="DDDAD0"/>
            </a:solidFill>
            <a:prstDash val="solid"/>
          </a:ln>
        </p:spPr>
      </p:sp>
      <p:sp>
        <p:nvSpPr>
          <p:cNvPr id="20" name="Text 15"/>
          <p:cNvSpPr/>
          <p:nvPr/>
        </p:nvSpPr>
        <p:spPr>
          <a:xfrm>
            <a:off x="9301692" y="2057611"/>
            <a:ext cx="1951249"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BD6"/>
                </a:solidFill>
                <a:latin typeface="IBM Plex Sans" pitchFamily="34" charset="0"/>
                <a:ea typeface="IBM Plex Sans" pitchFamily="34" charset="-122"/>
                <a:cs typeface="IBM Plex Sans" pitchFamily="34" charset="-120"/>
              </a:rPr>
              <a:t>4</a:t>
            </a:r>
            <a:endParaRPr lang="en-US" sz="2200" dirty="0"/>
          </a:p>
        </p:txBody>
      </p:sp>
      <p:sp>
        <p:nvSpPr>
          <p:cNvPr id="21" name="Text 16"/>
          <p:cNvSpPr/>
          <p:nvPr/>
        </p:nvSpPr>
        <p:spPr>
          <a:xfrm>
            <a:off x="9301692" y="2466553"/>
            <a:ext cx="195124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navigate(</a:t>
            </a:r>
            <a:endParaRPr lang="en-US" sz="1200" dirty="0"/>
          </a:p>
          <a:p>
            <a:pPr algn="l" indent="0" marL="0">
              <a:lnSpc>
                <a:spcPts val="1680"/>
              </a:lnSpc>
              <a:buNone/>
            </a:pPr>
            <a:r>
              <a:rPr lang="en-US" sz="1200" dirty="0">
                <a:solidFill>
                  <a:srgbClr val="18212C"/>
                </a:solidFill>
                <a:latin typeface="JetBrains Mono" pitchFamily="49" charset="0"/>
                <a:ea typeface="JetBrains Mono" pitchFamily="49" charset="-122"/>
                <a:cs typeface="JetBrains Mono" pitchFamily="49" charset="-120"/>
              </a:rPr>
              <a:t>'/produtos', …)</a:t>
            </a:r>
            <a:endParaRPr lang="en-US" sz="1200" dirty="0"/>
          </a:p>
        </p:txBody>
      </p:sp>
      <p:sp>
        <p:nvSpPr>
          <p:cNvPr id="22" name="Text 17"/>
          <p:cNvSpPr/>
          <p:nvPr/>
        </p:nvSpPr>
        <p:spPr>
          <a:xfrm>
            <a:off x="9301692" y="2994875"/>
            <a:ext cx="195124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Volta para a lista levando a mensagem.</a:t>
            </a:r>
            <a:endParaRPr lang="en-US" sz="1300" dirty="0"/>
          </a:p>
        </p:txBody>
      </p:sp>
      <p:sp>
        <p:nvSpPr>
          <p:cNvPr id="23" name="Shape 18"/>
          <p:cNvSpPr/>
          <p:nvPr/>
        </p:nvSpPr>
        <p:spPr>
          <a:xfrm>
            <a:off x="825500" y="3945043"/>
            <a:ext cx="0" cy="778510"/>
          </a:xfrm>
          <a:prstGeom prst="line">
            <a:avLst/>
          </a:prstGeom>
          <a:noFill/>
          <a:ln w="25400">
            <a:solidFill>
              <a:srgbClr val="D9792B"/>
            </a:solidFill>
            <a:prstDash val="solid"/>
          </a:ln>
        </p:spPr>
      </p:sp>
      <p:sp>
        <p:nvSpPr>
          <p:cNvPr id="24" name="Text 19"/>
          <p:cNvSpPr/>
          <p:nvPr/>
        </p:nvSpPr>
        <p:spPr>
          <a:xfrm>
            <a:off x="986367" y="3945043"/>
            <a:ext cx="1070461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212C"/>
                </a:solidFill>
                <a:latin typeface="IBM Plex Sans" pitchFamily="34" charset="0"/>
                <a:ea typeface="IBM Plex Sans" pitchFamily="34" charset="-122"/>
                <a:cs typeface="IBM Plex Sans" pitchFamily="34" charset="-120"/>
              </a:rPr>
              <a:t>Por que Number(preco)?</a:t>
            </a:r>
            <a:endParaRPr lang="en-US" sz="1400" dirty="0"/>
          </a:p>
        </p:txBody>
      </p:sp>
      <p:sp>
        <p:nvSpPr>
          <p:cNvPr id="25" name="Text 20"/>
          <p:cNvSpPr/>
          <p:nvPr/>
        </p:nvSpPr>
        <p:spPr>
          <a:xfrm>
            <a:off x="986367" y="4244764"/>
            <a:ext cx="981075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3"/>
                </a:solidFill>
                <a:latin typeface="IBM Plex Sans" pitchFamily="34" charset="0"/>
                <a:ea typeface="IBM Plex Sans" pitchFamily="34" charset="-122"/>
                <a:cs typeface="IBM Plex Sans" pitchFamily="34" charset="-120"/>
              </a:rPr>
              <a:t>Todo input devolve texto, mesmo com type="number". A API espera um número no JSON; sem a conversão, o preço iria como "2.50", entre aspas.</a:t>
            </a:r>
            <a:endParaRPr lang="en-US" sz="1300" dirty="0"/>
          </a:p>
        </p:txBody>
      </p:sp>
      <p:sp>
        <p:nvSpPr>
          <p:cNvPr id="26"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11 · PAGES/EDITARPRODUTO.JSX</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Editar = Novo + id na URL + GET inicial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83" y="1834305"/>
          <a:ext cx="10555817" cy="2732193"/>
        </p:xfrm>
        <a:graphic>
          <a:graphicData uri="http://schemas.openxmlformats.org/drawingml/2006/table">
            <a:tbl>
              <a:tblPr/>
              <a:tblGrid>
                <a:gridCol w="2322280"/>
                <a:gridCol w="3905652"/>
                <a:gridCol w="4327885"/>
              </a:tblGrid>
              <a:tr h="357293">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Aspecto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NovoProduto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EditarProduto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Como chega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 Novo” → /produtos/novo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lápis → /produtos/editar/{id}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58843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Ao abrir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estados vazios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useParams() → buscarProduto(id) → setNome, setPreco…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Campos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nome, descrição, preco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 id e dataCriacao (readOnly)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Salvar chama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criarProduto → POST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atualizarProduto(id, …) → PUT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Botão esquerdo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Voltar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Cancelar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Mensagem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Produto criado com sucesso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Produto atualizado com sucesso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bl>
          </a:graphicData>
        </a:graphic>
      </p:graphicFrame>
      <p:sp>
        <p:nvSpPr>
          <p:cNvPr id="5" name="Text 2"/>
          <p:cNvSpPr/>
          <p:nvPr/>
        </p:nvSpPr>
        <p:spPr>
          <a:xfrm>
            <a:off x="812800" y="4820500"/>
            <a:ext cx="9810750"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3"/>
                </a:solidFill>
                <a:latin typeface="IBM Plex Sans" pitchFamily="34" charset="0"/>
                <a:ea typeface="IBM Plex Sans" pitchFamily="34" charset="-122"/>
                <a:cs typeface="IBM Plex Sans" pitchFamily="34" charset="-120"/>
              </a:rPr>
              <a:t>O </a:t>
            </a:r>
            <a:r>
              <a:rPr lang="en-US" sz="1400" b="1" dirty="0">
                <a:solidFill>
                  <a:srgbClr val="18212C"/>
                </a:solidFill>
                <a:latin typeface="IBM Plex Sans" pitchFamily="34" charset="0"/>
                <a:ea typeface="IBM Plex Sans" pitchFamily="34" charset="-122"/>
                <a:cs typeface="IBM Plex Sans" pitchFamily="34" charset="-120"/>
              </a:rPr>
              <a:t>id</a:t>
            </a:r>
            <a:r>
              <a:rPr lang="en-US" sz="1400" dirty="0">
                <a:solidFill>
                  <a:srgbClr val="4A5563"/>
                </a:solidFill>
                <a:latin typeface="IBM Plex Sans" pitchFamily="34" charset="0"/>
                <a:ea typeface="IBM Plex Sans" pitchFamily="34" charset="-122"/>
                <a:cs typeface="IBM Plex Sans" pitchFamily="34" charset="-120"/>
              </a:rPr>
              <a:t> nasce no botão lápis, viaja pela URL, é lido por </a:t>
            </a:r>
            <a:r>
              <a:rPr lang="en-US" sz="1400" dirty="0">
                <a:solidFill>
                  <a:srgbClr val="2E6BD6"/>
                </a:solidFill>
                <a:latin typeface="IBM Plex Sans" pitchFamily="34" charset="0"/>
                <a:ea typeface="IBM Plex Sans" pitchFamily="34" charset="-122"/>
                <a:cs typeface="IBM Plex Sans" pitchFamily="34" charset="-120"/>
              </a:rPr>
              <a:t>useParams()</a:t>
            </a:r>
            <a:r>
              <a:rPr lang="en-US" sz="1400" dirty="0">
                <a:solidFill>
                  <a:srgbClr val="4A5563"/>
                </a:solidFill>
                <a:latin typeface="IBM Plex Sans" pitchFamily="34" charset="0"/>
                <a:ea typeface="IBM Plex Sans" pitchFamily="34" charset="-122"/>
                <a:cs typeface="IBM Plex Sans" pitchFamily="34" charset="-120"/>
              </a:rPr>
              <a:t> e volta para a API nas chamadas GET e PUT.</a:t>
            </a:r>
            <a:endParaRPr lang="en-US" sz="14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C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12 · A PONTE ENTRE PÁGINAS</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1EA"/>
                </a:solidFill>
                <a:latin typeface="IBM Plex Sans" pitchFamily="34" charset="0"/>
                <a:ea typeface="IBM Plex Sans" pitchFamily="34" charset="-122"/>
                <a:cs typeface="IBM Plex Sans" pitchFamily="34" charset="-120"/>
              </a:rPr>
              <a:t>A mensagem de sucesso viaja dentro da navegação</a:t>
            </a:r>
            <a:endParaRPr lang="en-US" sz="3200" dirty="0"/>
          </a:p>
        </p:txBody>
      </p:sp>
      <p:sp>
        <p:nvSpPr>
          <p:cNvPr id="4" name="Shape 2"/>
          <p:cNvSpPr/>
          <p:nvPr/>
        </p:nvSpPr>
        <p:spPr>
          <a:xfrm>
            <a:off x="812800" y="1874521"/>
            <a:ext cx="4318000" cy="2339340"/>
          </a:xfrm>
          <a:prstGeom prst="roundRect">
            <a:avLst>
              <a:gd name="adj" fmla="val 4343"/>
            </a:avLst>
          </a:prstGeom>
          <a:solidFill>
            <a:srgbClr val="222E3D"/>
          </a:solidFill>
          <a:ln/>
        </p:spPr>
      </p:sp>
      <p:sp>
        <p:nvSpPr>
          <p:cNvPr id="5" name="Text 3"/>
          <p:cNvSpPr/>
          <p:nvPr/>
        </p:nvSpPr>
        <p:spPr>
          <a:xfrm>
            <a:off x="1041400" y="2077721"/>
            <a:ext cx="397662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NovoProduto · EditarProduto</a:t>
            </a:r>
            <a:endParaRPr lang="en-US" sz="1300" dirty="0"/>
          </a:p>
        </p:txBody>
      </p:sp>
      <p:sp>
        <p:nvSpPr>
          <p:cNvPr id="6" name="Text 4"/>
          <p:cNvSpPr/>
          <p:nvPr/>
        </p:nvSpPr>
        <p:spPr>
          <a:xfrm>
            <a:off x="1041400" y="2410458"/>
            <a:ext cx="3976624" cy="1397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navigate('/produtos',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a:t>
            </a:r>
            <a:r>
              <a:rPr lang="en-US" sz="1200" dirty="0">
                <a:solidFill>
                  <a:srgbClr val="F2A65A"/>
                </a:solidFill>
                <a:latin typeface="JetBrains Mono" pitchFamily="49" charset="0"/>
                <a:ea typeface="JetBrains Mono" pitchFamily="49" charset="-122"/>
                <a:cs typeface="JetBrains Mono" pitchFamily="49" charset="-120"/>
              </a:rPr>
              <a:t>state</a:t>
            </a:r>
            <a:r>
              <a:rPr lang="en-US" sz="1200" dirty="0">
                <a:solidFill>
                  <a:srgbClr val="E4E9EF"/>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mensagem:</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'Produto criado com sucesso'</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a:t>
            </a:r>
            <a:endParaRPr lang="en-US" sz="1200" dirty="0"/>
          </a:p>
        </p:txBody>
      </p:sp>
      <p:pic>
        <p:nvPicPr>
          <p:cNvPr id="7" name="Image 0" descr="arrow-right">    </p:cNvPr>
          <p:cNvPicPr>
            <a:picLocks noChangeAspect="1"/>
          </p:cNvPicPr>
          <p:nvPr/>
        </p:nvPicPr>
        <p:blipFill>
          <a:blip r:embed="rId1"/>
          <a:srcRect l="0" r="0" t="0" b="0"/>
          <a:stretch/>
        </p:blipFill>
        <p:spPr>
          <a:xfrm>
            <a:off x="5283200" y="2942592"/>
            <a:ext cx="406400" cy="203200"/>
          </a:xfrm>
          <a:prstGeom prst="rect">
            <a:avLst/>
          </a:prstGeom>
        </p:spPr>
      </p:pic>
      <p:sp>
        <p:nvSpPr>
          <p:cNvPr id="8" name="Shape 5"/>
          <p:cNvSpPr/>
          <p:nvPr/>
        </p:nvSpPr>
        <p:spPr>
          <a:xfrm>
            <a:off x="5842000" y="1874521"/>
            <a:ext cx="5537200" cy="2339340"/>
          </a:xfrm>
          <a:prstGeom prst="roundRect">
            <a:avLst>
              <a:gd name="adj" fmla="val 4343"/>
            </a:avLst>
          </a:prstGeom>
          <a:solidFill>
            <a:srgbClr val="222E3D"/>
          </a:solidFill>
          <a:ln/>
        </p:spPr>
      </p:sp>
      <p:sp>
        <p:nvSpPr>
          <p:cNvPr id="9" name="Text 6"/>
          <p:cNvSpPr/>
          <p:nvPr/>
        </p:nvSpPr>
        <p:spPr>
          <a:xfrm>
            <a:off x="6070600" y="2077721"/>
            <a:ext cx="52324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B2FF"/>
                </a:solidFill>
                <a:latin typeface="IBM Plex Sans" pitchFamily="34" charset="0"/>
                <a:ea typeface="IBM Plex Sans" pitchFamily="34" charset="-122"/>
                <a:cs typeface="IBM Plex Sans" pitchFamily="34" charset="-120"/>
              </a:rPr>
              <a:t>ListaProdutos · useEffect</a:t>
            </a:r>
            <a:endParaRPr lang="en-US" sz="1300" dirty="0"/>
          </a:p>
        </p:txBody>
      </p:sp>
      <p:sp>
        <p:nvSpPr>
          <p:cNvPr id="10" name="Text 7"/>
          <p:cNvSpPr/>
          <p:nvPr/>
        </p:nvSpPr>
        <p:spPr>
          <a:xfrm>
            <a:off x="6070600" y="2410458"/>
            <a:ext cx="5232400" cy="1625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if (location.</a:t>
            </a:r>
            <a:r>
              <a:rPr lang="en-US" sz="1200" dirty="0">
                <a:solidFill>
                  <a:srgbClr val="F2A65A"/>
                </a:solidFill>
                <a:latin typeface="JetBrains Mono" pitchFamily="49" charset="0"/>
                <a:ea typeface="JetBrains Mono" pitchFamily="49" charset="-122"/>
                <a:cs typeface="JetBrains Mono" pitchFamily="49" charset="-120"/>
              </a:rPr>
              <a:t>state</a:t>
            </a:r>
            <a:r>
              <a:rPr lang="en-US" sz="1200" dirty="0">
                <a:solidFill>
                  <a:srgbClr val="E4E9EF"/>
                </a:solidFill>
                <a:latin typeface="JetBrains Mono" pitchFamily="49" charset="0"/>
                <a:ea typeface="JetBrains Mono" pitchFamily="49" charset="-122"/>
                <a:cs typeface="JetBrains Mono" pitchFamily="49" charset="-120"/>
              </a:rPr>
              <a:t> &amp;&amp;</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location.</a:t>
            </a:r>
            <a:r>
              <a:rPr lang="en-US" sz="1200" dirty="0">
                <a:solidFill>
                  <a:srgbClr val="F2A65A"/>
                </a:solidFill>
                <a:latin typeface="JetBrains Mono" pitchFamily="49" charset="0"/>
                <a:ea typeface="JetBrains Mono" pitchFamily="49" charset="-122"/>
                <a:cs typeface="JetBrains Mono" pitchFamily="49" charset="-120"/>
              </a:rPr>
              <a:t>state</a:t>
            </a:r>
            <a:r>
              <a:rPr lang="en-US" sz="1200" dirty="0">
                <a:solidFill>
                  <a:srgbClr val="E4E9EF"/>
                </a:solidFill>
                <a:latin typeface="JetBrains Mono" pitchFamily="49" charset="0"/>
                <a:ea typeface="JetBrains Mono" pitchFamily="49" charset="-122"/>
                <a:cs typeface="JetBrains Mono" pitchFamily="49" charset="-120"/>
              </a:rPr>
              <a:t>.mensagem)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setMensagemSucesso(</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location.</a:t>
            </a:r>
            <a:r>
              <a:rPr lang="en-US" sz="1200" dirty="0">
                <a:solidFill>
                  <a:srgbClr val="F2A65A"/>
                </a:solidFill>
                <a:latin typeface="JetBrains Mono" pitchFamily="49" charset="0"/>
                <a:ea typeface="JetBrains Mono" pitchFamily="49" charset="-122"/>
                <a:cs typeface="JetBrains Mono" pitchFamily="49" charset="-120"/>
              </a:rPr>
              <a:t>state</a:t>
            </a:r>
            <a:r>
              <a:rPr lang="en-US" sz="1200" dirty="0">
                <a:solidFill>
                  <a:srgbClr val="E4E9EF"/>
                </a:solidFill>
                <a:latin typeface="JetBrains Mono" pitchFamily="49" charset="0"/>
                <a:ea typeface="JetBrains Mono" pitchFamily="49" charset="-122"/>
                <a:cs typeface="JetBrains Mono" pitchFamily="49" charset="-120"/>
              </a:rPr>
              <a:t>.mensagem);</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navigate(location.pathname,</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    { replace: true, state: null });</a:t>
            </a:r>
            <a:endParaRPr lang="en-US" sz="1200" dirty="0"/>
          </a:p>
          <a:p>
            <a:pPr algn="l" indent="0" marL="0">
              <a:lnSpc>
                <a:spcPts val="1800"/>
              </a:lnSpc>
              <a:buNone/>
            </a:pPr>
            <a:r>
              <a:rPr lang="en-US" sz="1200" dirty="0">
                <a:solidFill>
                  <a:srgbClr val="E4E9EF"/>
                </a:solidFill>
                <a:latin typeface="JetBrains Mono" pitchFamily="49" charset="0"/>
                <a:ea typeface="JetBrains Mono" pitchFamily="49" charset="-122"/>
                <a:cs typeface="JetBrains Mono" pitchFamily="49" charset="-120"/>
              </a:rPr>
              <a:t>}</a:t>
            </a:r>
            <a:endParaRPr lang="en-US" sz="1200" dirty="0"/>
          </a:p>
        </p:txBody>
      </p:sp>
      <p:sp>
        <p:nvSpPr>
          <p:cNvPr id="11" name="Text 8"/>
          <p:cNvSpPr/>
          <p:nvPr/>
        </p:nvSpPr>
        <p:spPr>
          <a:xfrm>
            <a:off x="812800" y="4518658"/>
            <a:ext cx="3418501"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F3F1EA"/>
                </a:solidFill>
                <a:latin typeface="IBM Plex Sans" pitchFamily="34" charset="0"/>
                <a:ea typeface="IBM Plex Sans" pitchFamily="34" charset="-122"/>
                <a:cs typeface="IBM Plex Sans" pitchFamily="34" charset="-120"/>
              </a:rPr>
              <a:t>Quem salva não mostra o modal</a:t>
            </a:r>
            <a:r>
              <a:rPr lang="en-US" sz="1300" dirty="0">
                <a:solidFill>
                  <a:srgbClr val="B9C4CF"/>
                </a:solidFill>
                <a:latin typeface="IBM Plex Sans" pitchFamily="34" charset="0"/>
                <a:ea typeface="IBM Plex Sans" pitchFamily="34" charset="-122"/>
                <a:cs typeface="IBM Plex Sans" pitchFamily="34" charset="-120"/>
              </a:rPr>
              <a:t> — a página está prestes a sair da tela.</a:t>
            </a:r>
            <a:endParaRPr lang="en-US" sz="1300" dirty="0"/>
          </a:p>
        </p:txBody>
      </p:sp>
      <p:sp>
        <p:nvSpPr>
          <p:cNvPr id="12" name="Text 9"/>
          <p:cNvSpPr/>
          <p:nvPr/>
        </p:nvSpPr>
        <p:spPr>
          <a:xfrm>
            <a:off x="4436533" y="4518658"/>
            <a:ext cx="3418501"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F3F1EA"/>
                </a:solidFill>
                <a:latin typeface="IBM Plex Sans" pitchFamily="34" charset="0"/>
                <a:ea typeface="IBM Plex Sans" pitchFamily="34" charset="-122"/>
                <a:cs typeface="IBM Plex Sans" pitchFamily="34" charset="-120"/>
              </a:rPr>
              <a:t>A lista lê o state</a:t>
            </a:r>
            <a:r>
              <a:rPr lang="en-US" sz="1300" dirty="0">
                <a:solidFill>
                  <a:srgbClr val="B9C4CF"/>
                </a:solidFill>
                <a:latin typeface="IBM Plex Sans" pitchFamily="34" charset="0"/>
                <a:ea typeface="IBM Plex Sans" pitchFamily="34" charset="-122"/>
                <a:cs typeface="IBM Plex Sans" pitchFamily="34" charset="-120"/>
              </a:rPr>
              <a:t>, recarrega da API e só então exibe a mensagem.</a:t>
            </a:r>
            <a:endParaRPr lang="en-US" sz="1300" dirty="0"/>
          </a:p>
        </p:txBody>
      </p:sp>
      <p:sp>
        <p:nvSpPr>
          <p:cNvPr id="13" name="Text 10"/>
          <p:cNvSpPr/>
          <p:nvPr/>
        </p:nvSpPr>
        <p:spPr>
          <a:xfrm>
            <a:off x="8060267" y="4518658"/>
            <a:ext cx="3418501"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F3F1EA"/>
                </a:solidFill>
                <a:latin typeface="IBM Plex Sans" pitchFamily="34" charset="0"/>
                <a:ea typeface="IBM Plex Sans" pitchFamily="34" charset="-122"/>
                <a:cs typeface="IBM Plex Sans" pitchFamily="34" charset="-120"/>
              </a:rPr>
              <a:t>state: null com replace</a:t>
            </a:r>
            <a:r>
              <a:rPr lang="en-US" sz="1300" dirty="0">
                <a:solidFill>
                  <a:srgbClr val="B9C4CF"/>
                </a:solidFill>
                <a:latin typeface="IBM Plex Sans" pitchFamily="34" charset="0"/>
                <a:ea typeface="IBM Plex Sans" pitchFamily="34" charset="-122"/>
                <a:cs typeface="IBM Plex Sans" pitchFamily="34" charset="-120"/>
              </a:rPr>
              <a:t> impede o modal de voltar ao apertar F5.</a:t>
            </a:r>
            <a:endParaRPr lang="en-US" sz="1300" dirty="0"/>
          </a:p>
        </p:txBody>
      </p:sp>
      <p:sp>
        <p:nvSpPr>
          <p:cNvPr id="14"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6"/>
                </a:solidFill>
                <a:latin typeface="IBM Plex Sans" pitchFamily="34" charset="0"/>
                <a:ea typeface="IBM Plex Sans" pitchFamily="34" charset="-122"/>
                <a:cs typeface="IBM Plex Sans" pitchFamily="34" charset="-120"/>
              </a:rPr>
              <a:t>produtos-cliente · 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13 · JUNTANDO TUDO</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Um clique em Salvar atravessa todas as camadas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83" y="1834305"/>
          <a:ext cx="10555817" cy="2858347"/>
        </p:xfrm>
        <a:graphic>
          <a:graphicData uri="http://schemas.openxmlformats.org/drawingml/2006/table">
            <a:tbl>
              <a:tblPr/>
              <a:tblGrid>
                <a:gridCol w="633349"/>
                <a:gridCol w="2744512"/>
                <a:gridCol w="7177955"/>
              </a:tblGrid>
              <a:tr h="357293">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Arquivo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O que acontece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NovoProduto.jsx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salvar(): preventDefault e monta { nome, descricao, preco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produtoService.js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criarProduto(): fetch POST com o JSON no corpo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API :8080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Spring grava o produto e responde 201 Created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NovoProduto.jsx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navigate('/produtos', { state: { mensagem }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App.jsx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a rota /produtos renderiza &lt;ListaProdutos /&gt;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ListaProdutos.jsx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useEffect: listarProdutos() (GET) e abre o Modal de sucesso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Menu.jsx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NavLink “Produtos” fica ativo, pois a URL agora é /produtos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13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BD6"/>
                </a:solidFill>
                <a:latin typeface="IBM Plex Sans" pitchFamily="34" charset="0"/>
                <a:ea typeface="IBM Plex Sans" pitchFamily="34" charset="-122"/>
                <a:cs typeface="IBM Plex Sans" pitchFamily="34" charset="-120"/>
              </a:rPr>
              <a:t>14 · INDEX.CSS</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212C"/>
                </a:solidFill>
                <a:latin typeface="IBM Plex Sans" pitchFamily="34" charset="0"/>
                <a:ea typeface="IBM Plex Sans" pitchFamily="34" charset="-122"/>
                <a:cs typeface="IBM Plex Sans" pitchFamily="34" charset="-120"/>
              </a:rPr>
              <a:t>className é o fio entre JSX e CSS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83" y="1834305"/>
          <a:ext cx="10555817" cy="2501053"/>
        </p:xfrm>
        <a:graphic>
          <a:graphicData uri="http://schemas.openxmlformats.org/drawingml/2006/table">
            <a:tbl>
              <a:tblPr/>
              <a:tblGrid>
                <a:gridCol w="2955629"/>
                <a:gridCol w="4222327"/>
                <a:gridCol w="3377861"/>
              </a:tblGrid>
              <a:tr h="357293">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className no JSX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Regra no CSS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indent="0" marL="0">
                        <a:lnSpc>
                          <a:spcPts val="1820"/>
                        </a:lnSpc>
                        <a:buNone/>
                      </a:pPr>
                      <a:r>
                        <a:rPr lang="en-US" sz="1300" b="1" dirty="0">
                          <a:solidFill>
                            <a:srgbClr val="18212C"/>
                          </a:solidFill>
                          <a:latin typeface="IBM Plex Sans" pitchFamily="34" charset="0"/>
                          <a:ea typeface="IBM Plex Sans" pitchFamily="34" charset="-122"/>
                          <a:cs typeface="IBM Plex Sans" pitchFamily="34" charset="-120"/>
                        </a:rPr>
                        <a:t>Efeito na tela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barra-topo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justify-content: flex-end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 Novo” à direita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barra-rodape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justify-content: space-between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Voltar à esquerda, Salvar à direita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tabela-zebrada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tbody tr:nth-child(even)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linhas alternadas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botao-icone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[data-tooltip]:hover::after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“Apagar produto” ao passar o mouse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modal-fundo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position: fixed; inset: 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escurece a página inteira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293">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menu-item-ativo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border-bottom-color: #3b82f6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indent="0" marL="0">
                        <a:lnSpc>
                          <a:spcPts val="1820"/>
                        </a:lnSpc>
                        <a:buNone/>
                      </a:pPr>
                      <a:r>
                        <a:rPr lang="en-US" sz="1300" dirty="0">
                          <a:solidFill>
                            <a:srgbClr val="18212C"/>
                          </a:solidFill>
                          <a:latin typeface="IBM Plex Sans" pitchFamily="34" charset="0"/>
                          <a:ea typeface="IBM Plex Sans" pitchFamily="34" charset="-122"/>
                          <a:cs typeface="IBM Plex Sans" pitchFamily="34" charset="-120"/>
                        </a:rPr>
                        <a:t>sublinha a página atual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produtos-cliente · 14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C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15 · PRÓXIMOS PASSOS</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1EA"/>
                </a:solidFill>
                <a:latin typeface="IBM Plex Sans" pitchFamily="34" charset="0"/>
                <a:ea typeface="IBM Plex Sans" pitchFamily="34" charset="-122"/>
                <a:cs typeface="IBM Plex Sans" pitchFamily="34" charset="-120"/>
              </a:rPr>
              <a:t>Usuários e Pedidos seguem a mesma receita</a:t>
            </a:r>
            <a:endParaRPr lang="en-US" sz="3200" dirty="0"/>
          </a:p>
        </p:txBody>
      </p:sp>
      <p:sp>
        <p:nvSpPr>
          <p:cNvPr id="4" name="Shape 2"/>
          <p:cNvSpPr/>
          <p:nvPr/>
        </p:nvSpPr>
        <p:spPr>
          <a:xfrm>
            <a:off x="812800" y="1874515"/>
            <a:ext cx="2527300" cy="1757680"/>
          </a:xfrm>
          <a:prstGeom prst="roundRect">
            <a:avLst>
              <a:gd name="adj" fmla="val 5780"/>
            </a:avLst>
          </a:prstGeom>
          <a:solidFill>
            <a:srgbClr val="222E3D"/>
          </a:solidFill>
          <a:ln/>
        </p:spPr>
      </p:sp>
      <p:sp>
        <p:nvSpPr>
          <p:cNvPr id="5" name="Text 3"/>
          <p:cNvSpPr/>
          <p:nvPr/>
        </p:nvSpPr>
        <p:spPr>
          <a:xfrm>
            <a:off x="990600" y="2052315"/>
            <a:ext cx="2236851"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2A65A"/>
                </a:solidFill>
                <a:latin typeface="IBM Plex Sans" pitchFamily="34" charset="0"/>
                <a:ea typeface="IBM Plex Sans" pitchFamily="34" charset="-122"/>
                <a:cs typeface="IBM Plex Sans" pitchFamily="34" charset="-120"/>
              </a:rPr>
              <a:t>1</a:t>
            </a:r>
            <a:endParaRPr lang="en-US" sz="2200" dirty="0"/>
          </a:p>
        </p:txBody>
      </p:sp>
      <p:sp>
        <p:nvSpPr>
          <p:cNvPr id="6" name="Text 4"/>
          <p:cNvSpPr/>
          <p:nvPr/>
        </p:nvSpPr>
        <p:spPr>
          <a:xfrm>
            <a:off x="990600" y="2435858"/>
            <a:ext cx="22368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Serviço</a:t>
            </a:r>
            <a:endParaRPr lang="en-US" sz="1400" dirty="0"/>
          </a:p>
        </p:txBody>
      </p:sp>
      <p:sp>
        <p:nvSpPr>
          <p:cNvPr id="7" name="Text 5"/>
          <p:cNvSpPr/>
          <p:nvPr/>
        </p:nvSpPr>
        <p:spPr>
          <a:xfrm>
            <a:off x="990600" y="2760985"/>
            <a:ext cx="223685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4CF"/>
                </a:solidFill>
                <a:latin typeface="IBM Plex Sans" pitchFamily="34" charset="0"/>
                <a:ea typeface="IBM Plex Sans" pitchFamily="34" charset="-122"/>
                <a:cs typeface="IBM Plex Sans" pitchFamily="34" charset="-120"/>
              </a:rPr>
              <a:t>usuarioService.js com listar, buscar, criar, atualizar e apagar.</a:t>
            </a:r>
            <a:endParaRPr lang="en-US" sz="1300" dirty="0"/>
          </a:p>
        </p:txBody>
      </p:sp>
      <p:sp>
        <p:nvSpPr>
          <p:cNvPr id="8" name="Shape 6"/>
          <p:cNvSpPr/>
          <p:nvPr/>
        </p:nvSpPr>
        <p:spPr>
          <a:xfrm>
            <a:off x="3492500" y="1874515"/>
            <a:ext cx="2527300" cy="1757680"/>
          </a:xfrm>
          <a:prstGeom prst="roundRect">
            <a:avLst>
              <a:gd name="adj" fmla="val 5780"/>
            </a:avLst>
          </a:prstGeom>
          <a:solidFill>
            <a:srgbClr val="222E3D"/>
          </a:solidFill>
          <a:ln/>
        </p:spPr>
      </p:sp>
      <p:sp>
        <p:nvSpPr>
          <p:cNvPr id="9" name="Text 7"/>
          <p:cNvSpPr/>
          <p:nvPr/>
        </p:nvSpPr>
        <p:spPr>
          <a:xfrm>
            <a:off x="3670300" y="2052315"/>
            <a:ext cx="2236851"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2A65A"/>
                </a:solidFill>
                <a:latin typeface="IBM Plex Sans" pitchFamily="34" charset="0"/>
                <a:ea typeface="IBM Plex Sans" pitchFamily="34" charset="-122"/>
                <a:cs typeface="IBM Plex Sans" pitchFamily="34" charset="-120"/>
              </a:rPr>
              <a:t>2</a:t>
            </a:r>
            <a:endParaRPr lang="en-US" sz="2200" dirty="0"/>
          </a:p>
        </p:txBody>
      </p:sp>
      <p:sp>
        <p:nvSpPr>
          <p:cNvPr id="10" name="Text 8"/>
          <p:cNvSpPr/>
          <p:nvPr/>
        </p:nvSpPr>
        <p:spPr>
          <a:xfrm>
            <a:off x="3670300" y="2435858"/>
            <a:ext cx="22368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Páginas</a:t>
            </a:r>
            <a:endParaRPr lang="en-US" sz="1400" dirty="0"/>
          </a:p>
        </p:txBody>
      </p:sp>
      <p:sp>
        <p:nvSpPr>
          <p:cNvPr id="11" name="Text 9"/>
          <p:cNvSpPr/>
          <p:nvPr/>
        </p:nvSpPr>
        <p:spPr>
          <a:xfrm>
            <a:off x="3670300" y="2760985"/>
            <a:ext cx="223685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4CF"/>
                </a:solidFill>
                <a:latin typeface="IBM Plex Sans" pitchFamily="34" charset="0"/>
                <a:ea typeface="IBM Plex Sans" pitchFamily="34" charset="-122"/>
                <a:cs typeface="IBM Plex Sans" pitchFamily="34" charset="-120"/>
              </a:rPr>
              <a:t>ListaUsuarios, NovoUsuario e EditarUsuario, copiando a estrutura de produto.</a:t>
            </a:r>
            <a:endParaRPr lang="en-US" sz="1300" dirty="0"/>
          </a:p>
        </p:txBody>
      </p:sp>
      <p:sp>
        <p:nvSpPr>
          <p:cNvPr id="12" name="Shape 10"/>
          <p:cNvSpPr/>
          <p:nvPr/>
        </p:nvSpPr>
        <p:spPr>
          <a:xfrm>
            <a:off x="6172200" y="1874515"/>
            <a:ext cx="2527300" cy="1757680"/>
          </a:xfrm>
          <a:prstGeom prst="roundRect">
            <a:avLst>
              <a:gd name="adj" fmla="val 5780"/>
            </a:avLst>
          </a:prstGeom>
          <a:solidFill>
            <a:srgbClr val="222E3D"/>
          </a:solidFill>
          <a:ln/>
        </p:spPr>
      </p:sp>
      <p:sp>
        <p:nvSpPr>
          <p:cNvPr id="13" name="Text 11"/>
          <p:cNvSpPr/>
          <p:nvPr/>
        </p:nvSpPr>
        <p:spPr>
          <a:xfrm>
            <a:off x="6350000" y="2052315"/>
            <a:ext cx="2236851"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2A65A"/>
                </a:solidFill>
                <a:latin typeface="IBM Plex Sans" pitchFamily="34" charset="0"/>
                <a:ea typeface="IBM Plex Sans" pitchFamily="34" charset="-122"/>
                <a:cs typeface="IBM Plex Sans" pitchFamily="34" charset="-120"/>
              </a:rPr>
              <a:t>3</a:t>
            </a:r>
            <a:endParaRPr lang="en-US" sz="2200" dirty="0"/>
          </a:p>
        </p:txBody>
      </p:sp>
      <p:sp>
        <p:nvSpPr>
          <p:cNvPr id="14" name="Text 12"/>
          <p:cNvSpPr/>
          <p:nvPr/>
        </p:nvSpPr>
        <p:spPr>
          <a:xfrm>
            <a:off x="6350000" y="2435858"/>
            <a:ext cx="22368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Rotas</a:t>
            </a:r>
            <a:endParaRPr lang="en-US" sz="1400" dirty="0"/>
          </a:p>
        </p:txBody>
      </p:sp>
      <p:sp>
        <p:nvSpPr>
          <p:cNvPr id="15" name="Text 13"/>
          <p:cNvSpPr/>
          <p:nvPr/>
        </p:nvSpPr>
        <p:spPr>
          <a:xfrm>
            <a:off x="6350000" y="2760985"/>
            <a:ext cx="223685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4CF"/>
                </a:solidFill>
                <a:latin typeface="IBM Plex Sans" pitchFamily="34" charset="0"/>
                <a:ea typeface="IBM Plex Sans" pitchFamily="34" charset="-122"/>
                <a:cs typeface="IBM Plex Sans" pitchFamily="34" charset="-120"/>
              </a:rPr>
              <a:t>/usuarios, /usuarios/novo e /usuarios/editar/:id no App.jsx.</a:t>
            </a:r>
            <a:endParaRPr lang="en-US" sz="1300" dirty="0"/>
          </a:p>
        </p:txBody>
      </p:sp>
      <p:sp>
        <p:nvSpPr>
          <p:cNvPr id="16" name="Shape 14"/>
          <p:cNvSpPr/>
          <p:nvPr/>
        </p:nvSpPr>
        <p:spPr>
          <a:xfrm>
            <a:off x="8851900" y="1874515"/>
            <a:ext cx="2527300" cy="1757680"/>
          </a:xfrm>
          <a:prstGeom prst="roundRect">
            <a:avLst>
              <a:gd name="adj" fmla="val 5780"/>
            </a:avLst>
          </a:prstGeom>
          <a:solidFill>
            <a:srgbClr val="222E3D"/>
          </a:solidFill>
          <a:ln/>
        </p:spPr>
      </p:sp>
      <p:sp>
        <p:nvSpPr>
          <p:cNvPr id="17" name="Text 15"/>
          <p:cNvSpPr/>
          <p:nvPr/>
        </p:nvSpPr>
        <p:spPr>
          <a:xfrm>
            <a:off x="9029700" y="2052315"/>
            <a:ext cx="2236851"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2A65A"/>
                </a:solidFill>
                <a:latin typeface="IBM Plex Sans" pitchFamily="34" charset="0"/>
                <a:ea typeface="IBM Plex Sans" pitchFamily="34" charset="-122"/>
                <a:cs typeface="IBM Plex Sans" pitchFamily="34" charset="-120"/>
              </a:rPr>
              <a:t>4</a:t>
            </a:r>
            <a:endParaRPr lang="en-US" sz="2200" dirty="0"/>
          </a:p>
        </p:txBody>
      </p:sp>
      <p:sp>
        <p:nvSpPr>
          <p:cNvPr id="18" name="Text 16"/>
          <p:cNvSpPr/>
          <p:nvPr/>
        </p:nvSpPr>
        <p:spPr>
          <a:xfrm>
            <a:off x="9029700" y="2435858"/>
            <a:ext cx="22368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Menu</a:t>
            </a:r>
            <a:endParaRPr lang="en-US" sz="1400" dirty="0"/>
          </a:p>
        </p:txBody>
      </p:sp>
      <p:sp>
        <p:nvSpPr>
          <p:cNvPr id="19" name="Text 17"/>
          <p:cNvSpPr/>
          <p:nvPr/>
        </p:nvSpPr>
        <p:spPr>
          <a:xfrm>
            <a:off x="9029700" y="2760985"/>
            <a:ext cx="22368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4CF"/>
                </a:solidFill>
                <a:latin typeface="IBM Plex Sans" pitchFamily="34" charset="0"/>
                <a:ea typeface="IBM Plex Sans" pitchFamily="34" charset="-122"/>
                <a:cs typeface="IBM Plex Sans" pitchFamily="34" charset="-120"/>
              </a:rPr>
              <a:t>Trocar o span por um NavLink to="/usuarios".</a:t>
            </a:r>
            <a:endParaRPr lang="en-US" sz="1300" dirty="0"/>
          </a:p>
        </p:txBody>
      </p:sp>
      <p:sp>
        <p:nvSpPr>
          <p:cNvPr id="20" name="Shape 18"/>
          <p:cNvSpPr/>
          <p:nvPr/>
        </p:nvSpPr>
        <p:spPr>
          <a:xfrm>
            <a:off x="825500" y="3937000"/>
            <a:ext cx="0" cy="539115"/>
          </a:xfrm>
          <a:prstGeom prst="line">
            <a:avLst/>
          </a:prstGeom>
          <a:noFill/>
          <a:ln w="25400">
            <a:solidFill>
              <a:srgbClr val="7FB2FF"/>
            </a:solidFill>
            <a:prstDash val="solid"/>
          </a:ln>
        </p:spPr>
      </p:sp>
      <p:sp>
        <p:nvSpPr>
          <p:cNvPr id="21" name="Text 19"/>
          <p:cNvSpPr/>
          <p:nvPr/>
        </p:nvSpPr>
        <p:spPr>
          <a:xfrm>
            <a:off x="986367" y="3937000"/>
            <a:ext cx="1070461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1EA"/>
                </a:solidFill>
                <a:latin typeface="IBM Plex Sans" pitchFamily="34" charset="0"/>
                <a:ea typeface="IBM Plex Sans" pitchFamily="34" charset="-122"/>
                <a:cs typeface="IBM Plex Sans" pitchFamily="34" charset="-120"/>
              </a:rPr>
              <a:t>Não esqueça o backend</a:t>
            </a:r>
            <a:endParaRPr lang="en-US" sz="1400" dirty="0"/>
          </a:p>
        </p:txBody>
      </p:sp>
      <p:sp>
        <p:nvSpPr>
          <p:cNvPr id="22" name="Text 20"/>
          <p:cNvSpPr/>
          <p:nvPr/>
        </p:nvSpPr>
        <p:spPr>
          <a:xfrm>
            <a:off x="986367" y="4236715"/>
            <a:ext cx="10704618"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C4CF"/>
                </a:solidFill>
                <a:latin typeface="IBM Plex Sans" pitchFamily="34" charset="0"/>
                <a:ea typeface="IBM Plex Sans" pitchFamily="34" charset="-122"/>
                <a:cs typeface="IBM Plex Sans" pitchFamily="34" charset="-120"/>
              </a:rPr>
              <a:t>Cada controller precisa de </a:t>
            </a:r>
            <a:r>
              <a:rPr lang="en-US" sz="1300" dirty="0">
                <a:solidFill>
                  <a:srgbClr val="F2A65A"/>
                </a:solidFill>
                <a:latin typeface="IBM Plex Sans" pitchFamily="34" charset="0"/>
                <a:ea typeface="IBM Plex Sans" pitchFamily="34" charset="-122"/>
                <a:cs typeface="IBM Plex Sans" pitchFamily="34" charset="-120"/>
              </a:rPr>
              <a:t>@CrossOrigin(origins = "http://localhost:5173")</a:t>
            </a:r>
            <a:r>
              <a:rPr lang="en-US" sz="1300" dirty="0">
                <a:solidFill>
                  <a:srgbClr val="B9C4CF"/>
                </a:solidFill>
                <a:latin typeface="IBM Plex Sans" pitchFamily="34" charset="0"/>
                <a:ea typeface="IBM Plex Sans" pitchFamily="34" charset="-122"/>
                <a:cs typeface="IBM Plex Sans" pitchFamily="34" charset="-120"/>
              </a:rPr>
              <a:t>. Sem isso, o navegador bloqueia as chamadas.</a:t>
            </a:r>
            <a:endParaRPr lang="en-US" sz="13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6"/>
                </a:solidFill>
                <a:latin typeface="IBM Plex Sans" pitchFamily="34" charset="0"/>
                <a:ea typeface="IBM Plex Sans" pitchFamily="34" charset="-122"/>
                <a:cs typeface="IBM Plex Sans" pitchFamily="34" charset="-120"/>
              </a:rPr>
              <a:t>produtos-cliente · 15</a:t>
            </a:r>
            <a:endParaRPr lang="en-US" sz="1200" dirty="0"/>
          </a:p>
        </p:txBody>
      </p:sp>
    </p:spTree>
  </p:cSld>
  <p:clrMapOvr>
    <a:masterClrMapping/>
  </p:clrMapOvr>
</p:sld>
</file>

<file path=ppt/theme/theme1.xml><?xml version="1.0" encoding="utf-8"?>
<a:theme xmlns:a="http://schemas.openxmlformats.org/drawingml/2006/main" name="Anatomia do produtos-cliente">
  <a:themeElements>
    <a:clrScheme name="Anatomia do produtos-cliente">
      <a:dk1>
        <a:srgbClr val="18212C"/>
      </a:dk1>
      <a:lt1>
        <a:srgbClr val="F6F5F0"/>
      </a:lt1>
      <a:dk2>
        <a:srgbClr val="50565D"/>
      </a:dk2>
      <a:lt2>
        <a:srgbClr val="E0E0DC"/>
      </a:lt2>
      <a:accent1>
        <a:srgbClr val="2E6BD6"/>
      </a:accent1>
      <a:accent2>
        <a:srgbClr val="F2A65A"/>
      </a:accent2>
      <a:accent3>
        <a:srgbClr val="7FB2FF"/>
      </a:accent3>
      <a:accent4>
        <a:srgbClr val="4A5563"/>
      </a:accent4>
      <a:accent5>
        <a:srgbClr val="6B7480"/>
      </a:accent5>
      <a:accent6>
        <a:srgbClr val="B9C4CF"/>
      </a:accent6>
      <a:hlink>
        <a:srgbClr val="0563C1"/>
      </a:hlink>
      <a:folHlink>
        <a:srgbClr val="954F72"/>
      </a:folHlink>
    </a:clrScheme>
    <a:fontScheme name="Anatomia do produtos-client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Anatomia do produtos-cliente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2026-10-22T20:31:21Z</dcterms:created>
  <dcterms:modified xsi:type="dcterms:W3CDTF">2026-10-22T20:31:21Z</dcterms:modified>
</cp:coreProperties>
</file>